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hamdhan05/AUTOSAR-AI-Implementation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hamdhan05/AUTOSAR-AI-Implementatio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548640" cy="73152"/>
          </a:xfrm>
          <a:prstGeom prst="rect">
            <a:avLst/>
          </a:prstGeom>
          <a:solidFill>
            <a:srgbClr val="34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25880" y="502920"/>
            <a:ext cx="1371600" cy="73152"/>
          </a:xfrm>
          <a:prstGeom prst="rect">
            <a:avLst/>
          </a:prstGeom>
          <a:solidFill>
            <a:srgbClr val="2E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1100" b="1">
                <a:solidFill>
                  <a:srgbClr val="34C6D2"/>
                </a:solidFill>
                <a:latin typeface="Segoe UI"/>
              </a:defRPr>
            </a:pPr>
            <a:r>
              <a:t>ACADEMIC TECHNICAL PRESENTATION  •  AUTOMOTIVE SOFTWARE &amp; AI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515600" cy="10058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AUTOSAR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2200">
                <a:solidFill>
                  <a:srgbClr val="B4F0F5"/>
                </a:solidFill>
                <a:latin typeface="Segoe UI"/>
              </a:defRPr>
            </a:pPr>
            <a:r>
              <a:t>High-Level Design Document 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5156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1300" i="1">
                <a:solidFill>
                  <a:srgbClr val="94A3B8"/>
                </a:solidFill>
                <a:latin typeface="Segoe UI"/>
              </a:defRPr>
            </a:pPr>
            <a:r>
              <a:t>“Local-First AI for Evidence-Grounded Automotive Architecture Analysis”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46120"/>
            <a:ext cx="6217920" cy="2697480"/>
          </a:xfrm>
          <a:prstGeom prst="roundRect">
            <a:avLst/>
          </a:prstGeom>
          <a:solidFill>
            <a:srgbClr val="142640"/>
          </a:solidFill>
          <a:ln w="19050">
            <a:solidFill>
              <a:srgbClr val="2E5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20040" tIns="256032" rIns="320040" wrap="square"/>
          <a:lstStyle/>
          <a:p>
            <a:pPr algn="l">
              <a:defRPr sz="1050" b="1">
                <a:solidFill>
                  <a:srgbClr val="34C6D2"/>
                </a:solidFill>
                <a:latin typeface="Segoe UI"/>
              </a:defRPr>
            </a:pPr>
            <a:r>
              <a:t>STUDENT &amp; PROJECT SPECIFICATIONS</a:t>
            </a:r>
          </a:p>
          <a:p>
            <a:pPr algn="l">
              <a:spcBef>
                <a:spcPts val="6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Candidate Name: </a:t>
            </a:r>
            <a:r>
              <a:rPr sz="1100" b="1">
                <a:solidFill>
                  <a:srgbClr val="F1F5F9"/>
                </a:solidFill>
                <a:latin typeface="Segoe UI"/>
              </a:rPr>
              <a:t>Hamdhan Ahmed B</a:t>
            </a:r>
          </a:p>
          <a:p>
            <a:pPr algn="l">
              <a:spcBef>
                <a:spcPts val="6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Registration Number: </a:t>
            </a:r>
            <a:r>
              <a:rPr sz="1100" b="1">
                <a:solidFill>
                  <a:srgbClr val="F1F5F9"/>
                </a:solidFill>
                <a:latin typeface="Segoe UI"/>
              </a:rPr>
              <a:t>127003081</a:t>
            </a:r>
          </a:p>
          <a:p>
            <a:pPr algn="l">
              <a:spcBef>
                <a:spcPts val="6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Domain: </a:t>
            </a:r>
            <a:r>
              <a:rPr sz="1100" b="1">
                <a:solidFill>
                  <a:srgbClr val="F1F5F9"/>
                </a:solidFill>
                <a:latin typeface="Segoe UI"/>
              </a:rPr>
              <a:t>Automotive Software Engineering &amp; AI Architectures</a:t>
            </a:r>
          </a:p>
          <a:p>
            <a:pPr algn="l">
              <a:spcBef>
                <a:spcPts val="6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System Paradigm: </a:t>
            </a:r>
            <a:r>
              <a:rPr sz="1100" b="1">
                <a:solidFill>
                  <a:srgbClr val="F1F5F9"/>
                </a:solidFill>
                <a:latin typeface="Segoe UI"/>
              </a:rPr>
              <a:t>Local-First LLM (Ollama llama3.2:3b) + Persistent Vector Store</a:t>
            </a:r>
          </a:p>
          <a:p>
            <a:pPr algn="l">
              <a:spcBef>
                <a:spcPts val="600"/>
              </a:spcBef>
            </a:pPr>
            <a:r>
              <a:rPr sz="1050">
                <a:solidFill>
                  <a:srgbClr val="94A3B8"/>
                </a:solidFill>
                <a:latin typeface="Segoe UI"/>
              </a:rPr>
              <a:t>Verification Standard: </a:t>
            </a:r>
            <a:r>
              <a:rPr sz="1100" b="1">
                <a:solidFill>
                  <a:srgbClr val="F1F5F9"/>
                </a:solidFill>
                <a:latin typeface="Segoe UI"/>
              </a:rPr>
              <a:t>Strict Source Grounding &amp; Verifiable Citations</a:t>
            </a:r>
          </a:p>
        </p:txBody>
      </p:sp>
      <p:sp>
        <p:nvSpPr>
          <p:cNvPr id="10" name="Rounded Rectangle 9">
            <a:hlinkClick r:id="rId2"/>
          </p:cNvPr>
          <p:cNvSpPr/>
          <p:nvPr/>
        </p:nvSpPr>
        <p:spPr>
          <a:xfrm>
            <a:off x="7132320" y="3246120"/>
            <a:ext cx="4327855" cy="1234440"/>
          </a:xfrm>
          <a:prstGeom prst="roundRect">
            <a:avLst/>
          </a:prstGeom>
          <a:solidFill>
            <a:srgbClr val="142640"/>
          </a:solidFill>
          <a:ln w="19050">
            <a:solidFill>
              <a:srgbClr val="34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64592" rIns="274320" wrap="square"/>
          <a:lstStyle/>
          <a:p>
            <a:pPr algn="l">
              <a:defRPr sz="950" b="1">
                <a:solidFill>
                  <a:srgbClr val="34C6D2"/>
                </a:solidFill>
                <a:latin typeface="Segoe UI"/>
              </a:defRPr>
            </a:pPr>
            <a:r>
              <a:t>PROJECT REPOSITORY &amp; CODEBASE (CLICK TO OPEN)</a:t>
            </a:r>
          </a:p>
          <a:p>
            <a:pPr algn="l">
              <a:spcBef>
                <a:spcPts val="400"/>
              </a:spcBef>
            </a:pPr>
            <a:r>
              <a:rPr sz="1050" b="1">
                <a:solidFill>
                  <a:srgbClr val="B4F0F5"/>
                </a:solidFill>
                <a:latin typeface="Segoe UI"/>
              </a:rPr>
              <a:t>https://github.com/hamdhan05/AUTOSAR-AI-Implementation</a:t>
            </a:r>
          </a:p>
          <a:p>
            <a:pPr algn="l"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Full Stack Implementation • Automated Unit &amp; Integration Tests • Docker Ready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4617720"/>
            <a:ext cx="4327855" cy="640080"/>
          </a:xfrm>
          <a:prstGeom prst="roundRect">
            <a:avLst/>
          </a:prstGeom>
          <a:solidFill>
            <a:srgbClr val="101E34"/>
          </a:solidFill>
          <a:ln w="12700">
            <a:solidFill>
              <a:srgbClr val="2E5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tIns="91440" rIns="228600" wrap="square"/>
          <a:lstStyle/>
          <a:p>
            <a:pPr algn="l">
              <a:defRPr sz="950" b="1">
                <a:solidFill>
                  <a:srgbClr val="2E7EDC"/>
                </a:solidFill>
                <a:latin typeface="Segoe UI"/>
              </a:defRPr>
            </a:pPr>
            <a:r>
              <a:t>OFFLINE-FIRST AIR-GAPPED PRIVACY</a:t>
            </a:r>
          </a:p>
          <a:p>
            <a:pPr algn="l">
              <a:defRPr sz="850">
                <a:solidFill>
                  <a:srgbClr val="94A3B8"/>
                </a:solidFill>
                <a:latin typeface="Segoe UI"/>
              </a:defRPr>
            </a:pPr>
            <a:r>
              <a:t>Ollama (llama3.2:3b) local inference; zero automotive IP leaves local premises.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5312664"/>
            <a:ext cx="4327855" cy="640080"/>
          </a:xfrm>
          <a:prstGeom prst="roundRect">
            <a:avLst/>
          </a:prstGeom>
          <a:solidFill>
            <a:srgbClr val="101E34"/>
          </a:solidFill>
          <a:ln w="12700">
            <a:solidFill>
              <a:srgbClr val="2E5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tIns="91440" rIns="228600" wrap="square"/>
          <a:lstStyle/>
          <a:p>
            <a:pPr algn="l">
              <a:defRPr sz="950" b="1">
                <a:solidFill>
                  <a:srgbClr val="10B981"/>
                </a:solidFill>
                <a:latin typeface="Segoe UI"/>
              </a:defRPr>
            </a:pPr>
            <a:r>
              <a:t>VERIFIED TEST SUITE (100% PASS RATE)</a:t>
            </a:r>
          </a:p>
          <a:p>
            <a:pPr algn="l">
              <a:defRPr sz="850">
                <a:solidFill>
                  <a:srgbClr val="94A3B8"/>
                </a:solidFill>
                <a:latin typeface="Segoe UI"/>
              </a:defRPr>
            </a:pPr>
            <a:r>
              <a:t>28 / 28 automated tests passing across 12 test modules on Python 3.11.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880">
                <a:solidFill>
                  <a:srgbClr val="5A6E8C"/>
                </a:solidFill>
                <a:latin typeface="Segoe UI"/>
              </a:defRPr>
            </a:pPr>
            <a:r>
              <a:t>AUTOSAR AI – High-Level Design Document Intelligence Platform  |  Hamdhan Ahmed B (Reg: 127003081)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34C6D2"/>
                </a:solidFill>
                <a:latin typeface="Segoe UI"/>
              </a:defRPr>
            </a:pPr>
            <a: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2E7EDC"/>
                </a:solidFill>
                <a:latin typeface="Segoe UI"/>
              </a:defRPr>
            </a:pPr>
            <a:r>
              <a:t>ENGINEERING CHALLENGE &amp; STRATEGIC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Problem Statement and 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>
                <a:solidFill>
                  <a:srgbClr val="475569"/>
                </a:solidFill>
                <a:latin typeface="Segoe UI"/>
              </a:defRPr>
            </a:pPr>
            <a:r>
              <a:t>Overcoming verification bottlenecks in massive automotive AUTOSAR High-Level Design specifications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516636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1100" b="1">
                <a:solidFill>
                  <a:srgbClr val="E11D48"/>
                </a:solidFill>
                <a:latin typeface="Segoe UI"/>
              </a:defRPr>
            </a:pPr>
            <a:r>
              <a:t>THE ENGINEERING PROBLEM IN AUTOMOTIVE HLD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1663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tIns="128016" rIns="182880" wrap="square"/>
          <a:lstStyle/>
          <a:p>
            <a:pPr algn="l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Massive Specification Volume &amp; Slow Navigation</a:t>
            </a:r>
          </a:p>
          <a:p>
            <a:pPr algn="l">
              <a:spcBef>
                <a:spcPts val="4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AUTOSAR High-Level Design (HLD) specifications span hundreds of dense pages containing deeply nested architectural models. Manual information retrieval requires substantial engineering hours and delays review cycles.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79"/>
            <a:ext cx="73152" cy="9144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172968"/>
            <a:ext cx="51663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tIns="128016" rIns="182880" wrap="square"/>
          <a:lstStyle/>
          <a:p>
            <a:pPr algn="l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Fragmented Architectural Traceability</a:t>
            </a:r>
          </a:p>
          <a:p>
            <a:pPr algn="l">
              <a:spcBef>
                <a:spcPts val="4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Identifying Software Components (SWCs), Runnables, Ports, and Interface mappings across disparate sections is error-prone. Critical dependencies and signal types are easily overlooked during manual inspection.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310127"/>
            <a:ext cx="73152" cy="9144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4471416"/>
            <a:ext cx="51663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tIns="128016" rIns="182880" wrap="square"/>
          <a:lstStyle/>
          <a:p>
            <a:pPr algn="l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Revision Comparison Drift &amp; Hallucination Risk</a:t>
            </a:r>
          </a:p>
          <a:p>
            <a:pPr algn="l">
              <a:spcBef>
                <a:spcPts val="4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Comparing specification revisions line-by-line is tedious and risks silent architecture drift. Meanwhile, generic public cloud LLMs hallucinate non-existent interfaces and lack document grounding.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608576"/>
            <a:ext cx="73152" cy="9144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536192"/>
            <a:ext cx="528523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CORE PROJECT OBJECTIVES &amp; SOLUTIONS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74519"/>
            <a:ext cx="528523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tIns="91440" rIns="182880" wrap="square"/>
          <a:lstStyle/>
          <a:p>
            <a:pPr algn="l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1. Automated Semantic HLD Ingestion</a:t>
            </a:r>
          </a:p>
          <a:p>
            <a:pPr algn="l">
              <a:spcBef>
                <a:spcPts val="200"/>
              </a:spcBef>
              <a:defRPr sz="900">
                <a:solidFill>
                  <a:srgbClr val="475569"/>
                </a:solidFill>
                <a:latin typeface="Segoe UI"/>
              </a:defRPr>
            </a:pPr>
            <a:r>
              <a:t>Ingest multi-page PDF specifications, extract text structure page-by-page, and build persistent searchable vector indexes with strict document &amp; page metadata.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984248"/>
            <a:ext cx="73152" cy="658368"/>
          </a:xfrm>
          <a:prstGeom prst="rect">
            <a:avLst/>
          </a:prstGeom>
          <a:solidFill>
            <a:srgbClr val="2E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2834639"/>
            <a:ext cx="528523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tIns="91440" rIns="182880" wrap="square"/>
          <a:lstStyle/>
          <a:p>
            <a:pPr algn="l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2. Evidence-Grounded Natural-Language Q&amp;A</a:t>
            </a:r>
          </a:p>
          <a:p>
            <a:pPr algn="l">
              <a:spcBef>
                <a:spcPts val="200"/>
              </a:spcBef>
              <a:defRPr sz="900">
                <a:solidFill>
                  <a:srgbClr val="475569"/>
                </a:solidFill>
                <a:latin typeface="Segoe UI"/>
              </a:defRPr>
            </a:pPr>
            <a:r>
              <a:t>Allow automotive architects to query complex component behaviors in natural English, retrieving top-k relevant excerpts via local RAG with zero data leakage.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944368"/>
            <a:ext cx="73152" cy="658368"/>
          </a:xfrm>
          <a:prstGeom prst="rect">
            <a:avLst/>
          </a:prstGeom>
          <a:solidFill>
            <a:srgbClr val="2E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3794759"/>
            <a:ext cx="528523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tIns="91440" rIns="182880" wrap="square"/>
          <a:lstStyle/>
          <a:p>
            <a:pPr algn="l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3. Strict Traceability &amp; Abstention Guardrails</a:t>
            </a:r>
          </a:p>
          <a:p>
            <a:pPr algn="l">
              <a:spcBef>
                <a:spcPts val="200"/>
              </a:spcBef>
              <a:defRPr sz="900">
                <a:solidFill>
                  <a:srgbClr val="475569"/>
                </a:solidFill>
                <a:latin typeface="Segoe UI"/>
              </a:defRPr>
            </a:pPr>
            <a:r>
              <a:t>Provide transparent document, section, and page citations for every assertion, with strict LLM abstention directives when source evidence is insufficient.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904487"/>
            <a:ext cx="73152" cy="658368"/>
          </a:xfrm>
          <a:prstGeom prst="rect">
            <a:avLst/>
          </a:prstGeom>
          <a:solidFill>
            <a:srgbClr val="2E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4754879"/>
            <a:ext cx="528523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tIns="91440" rIns="182880" wrap="square"/>
          <a:lstStyle/>
          <a:p>
            <a:pPr algn="l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4. Architectural Validation &amp; Revision Diffing</a:t>
            </a:r>
          </a:p>
          <a:p>
            <a:pPr algn="l">
              <a:spcBef>
                <a:spcPts val="200"/>
              </a:spcBef>
              <a:defRPr sz="900">
                <a:solidFill>
                  <a:srgbClr val="475569"/>
                </a:solidFill>
                <a:latin typeface="Segoe UI"/>
              </a:defRPr>
            </a:pPr>
            <a:r>
              <a:t>Automatically extract SWCs, Runnables, Ports, and Signals; run enterprise rule checks (circular dependencies, insecure IPC); compute baseline-vs-revision deltas.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4864607"/>
            <a:ext cx="73152" cy="658368"/>
          </a:xfrm>
          <a:prstGeom prst="rect">
            <a:avLst/>
          </a:prstGeom>
          <a:solidFill>
            <a:srgbClr val="2E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5806440"/>
            <a:ext cx="10728655" cy="53035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BED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09728" rIns="274320" wrap="square"/>
          <a:lstStyle/>
          <a:p>
            <a:pPr algn="l"/>
            <a:r>
              <a:rPr sz="950" b="1">
                <a:solidFill>
                  <a:srgbClr val="2E7EDC"/>
                </a:solidFill>
                <a:latin typeface="Segoe UI"/>
              </a:rPr>
              <a:t>CORE ENGINEERING PRINCIPLE: </a:t>
            </a:r>
            <a:r>
              <a:rPr sz="950">
                <a:solidFill>
                  <a:srgbClr val="0F172A"/>
                </a:solidFill>
                <a:latin typeface="Segoe UI"/>
              </a:rPr>
              <a:t>AUTOSAR AI acts as an authoritative analysis assistant and verification co-pilot—accelerating specification discovery while strictly preserving human engineer oversight, review sign-off, and final architectural approval.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880">
                <a:solidFill>
                  <a:srgbClr val="8C9BAF"/>
                </a:solidFill>
                <a:latin typeface="Segoe UI"/>
              </a:defRPr>
            </a:pPr>
            <a:r>
              <a:t>AUTOSAR AI – High-Level Design Document Intelligence Platform  |  Hamdhan Ahmed B (Reg: 127003081)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E7EDC"/>
                </a:solidFill>
                <a:latin typeface="Segoe UI"/>
              </a:defRPr>
            </a:pPr>
            <a: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34C6D2"/>
                </a:solidFill>
                <a:latin typeface="Segoe UI"/>
              </a:defRPr>
            </a:pPr>
            <a:r>
              <a:t>THREE-TIER MULTI-SERVICE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>
                <a:solidFill>
                  <a:srgbClr val="F1F5F9"/>
                </a:solidFill>
                <a:latin typeface="Segoe UI"/>
              </a:defRPr>
            </a:pPr>
            <a:r>
              <a:t>System Architecture &amp; Communications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Decoupled architecture separating presentation, orchestration, persistence, and local AI inference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27632"/>
            <a:ext cx="3291840" cy="4023360"/>
          </a:xfrm>
          <a:prstGeom prst="roundRect">
            <a:avLst/>
          </a:prstGeom>
          <a:solidFill>
            <a:srgbClr val="142640"/>
          </a:solidFill>
          <a:ln w="19050">
            <a:solidFill>
              <a:srgbClr val="2E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tIns="182880" rIns="228600" wrap="square"/>
          <a:lstStyle/>
          <a:p>
            <a:pPr algn="l">
              <a:defRPr sz="1200" b="1">
                <a:solidFill>
                  <a:srgbClr val="34C6D2"/>
                </a:solidFill>
                <a:latin typeface="Segoe UI"/>
              </a:defRPr>
            </a:pPr>
            <a:r>
              <a:t>PRESENTATION LAYER</a:t>
            </a:r>
          </a:p>
          <a:p>
            <a:pPr algn="l">
              <a:defRPr sz="900" b="1">
                <a:solidFill>
                  <a:srgbClr val="B4F0F5"/>
                </a:solidFill>
                <a:latin typeface="Segoe UI"/>
              </a:defRPr>
            </a:pPr>
            <a:r>
              <a:t>Streamlit Multipage Web UI  •  localhost:8501</a:t>
            </a:r>
          </a:p>
          <a:p>
            <a:pPr algn="l">
              <a:spcBef>
                <a:spcPts val="500"/>
              </a:spcBef>
            </a:pPr>
            <a:r>
              <a:rPr sz="950" b="1">
                <a:solidFill>
                  <a:srgbClr val="F1F5F9"/>
                </a:solidFill>
                <a:latin typeface="Segoe UI"/>
              </a:rPr>
              <a:t>• Dashboard (Page 1): </a:t>
            </a:r>
            <a:r>
              <a:rPr sz="850">
                <a:solidFill>
                  <a:srgbClr val="94A3B8"/>
                </a:solidFill>
                <a:latin typeface="Segoe UI"/>
              </a:rPr>
              <a:t>Document &amp; entity metrics, subsystem diagnostics</a:t>
            </a:r>
          </a:p>
          <a:p>
            <a:pPr algn="l">
              <a:spcBef>
                <a:spcPts val="500"/>
              </a:spcBef>
            </a:pPr>
            <a:r>
              <a:rPr sz="950" b="1">
                <a:solidFill>
                  <a:srgbClr val="F1F5F9"/>
                </a:solidFill>
                <a:latin typeface="Segoe UI"/>
              </a:rPr>
              <a:t>• Documents (Page 2): </a:t>
            </a:r>
            <a:r>
              <a:rPr sz="850">
                <a:solidFill>
                  <a:srgbClr val="94A3B8"/>
                </a:solidFill>
                <a:latin typeface="Segoe UI"/>
              </a:rPr>
              <a:t>PDF upload, SHA-256 deduplication, lifecycle tracking</a:t>
            </a:r>
          </a:p>
          <a:p>
            <a:pPr algn="l">
              <a:spcBef>
                <a:spcPts val="500"/>
              </a:spcBef>
            </a:pPr>
            <a:r>
              <a:rPr sz="950" b="1">
                <a:solidFill>
                  <a:srgbClr val="F1F5F9"/>
                </a:solidFill>
                <a:latin typeface="Segoe UI"/>
              </a:rPr>
              <a:t>• Architecture Explorer (Page 3): </a:t>
            </a:r>
            <a:r>
              <a:rPr sz="850">
                <a:solidFill>
                  <a:srgbClr val="94A3B8"/>
                </a:solidFill>
                <a:latin typeface="Segoe UI"/>
              </a:rPr>
              <a:t>SWC, Runnable, Port, Signal tables &amp; reviews</a:t>
            </a:r>
          </a:p>
          <a:p>
            <a:pPr algn="l">
              <a:spcBef>
                <a:spcPts val="500"/>
              </a:spcBef>
            </a:pPr>
            <a:r>
              <a:rPr sz="950" b="1">
                <a:solidFill>
                  <a:srgbClr val="F1F5F9"/>
                </a:solidFill>
                <a:latin typeface="Segoe UI"/>
              </a:rPr>
              <a:t>• AI Assistant (Page 4): </a:t>
            </a:r>
            <a:r>
              <a:rPr sz="850">
                <a:solidFill>
                  <a:srgbClr val="94A3B8"/>
                </a:solidFill>
                <a:latin typeface="Segoe UI"/>
              </a:rPr>
              <a:t>RAG conversation, citation inspector, verification</a:t>
            </a:r>
          </a:p>
          <a:p>
            <a:pPr algn="l">
              <a:spcBef>
                <a:spcPts val="500"/>
              </a:spcBef>
            </a:pPr>
            <a:r>
              <a:rPr sz="950" b="1">
                <a:solidFill>
                  <a:srgbClr val="F1F5F9"/>
                </a:solidFill>
                <a:latin typeface="Segoe UI"/>
              </a:rPr>
              <a:t>• Comparisons (Page 5): </a:t>
            </a:r>
            <a:r>
              <a:rPr sz="850">
                <a:solidFill>
                  <a:srgbClr val="94A3B8"/>
                </a:solidFill>
                <a:latin typeface="Segoe UI"/>
              </a:rPr>
              <a:t>Baseline vs revision diffs, rename detection</a:t>
            </a:r>
          </a:p>
          <a:p>
            <a:pPr algn="l">
              <a:spcBef>
                <a:spcPts val="500"/>
              </a:spcBef>
            </a:pPr>
            <a:r>
              <a:rPr sz="950" b="1">
                <a:solidFill>
                  <a:srgbClr val="F1F5F9"/>
                </a:solidFill>
                <a:latin typeface="Segoe UI"/>
              </a:rPr>
              <a:t>• Findings (Page 6): </a:t>
            </a:r>
            <a:r>
              <a:rPr sz="850">
                <a:solidFill>
                  <a:srgbClr val="94A3B8"/>
                </a:solidFill>
                <a:latin typeface="Segoe UI"/>
              </a:rPr>
              <a:t>Circular dependencies, insecure IPC resolution</a:t>
            </a:r>
          </a:p>
          <a:p>
            <a:pPr algn="l">
              <a:spcBef>
                <a:spcPts val="500"/>
              </a:spcBef>
            </a:pPr>
            <a:r>
              <a:rPr sz="950" b="1">
                <a:solidFill>
                  <a:srgbClr val="F1F5F9"/>
                </a:solidFill>
                <a:latin typeface="Segoe UI"/>
              </a:rPr>
              <a:t>• Reports &amp; Settings (Page 7): </a:t>
            </a:r>
            <a:r>
              <a:rPr sz="850">
                <a:solidFill>
                  <a:srgbClr val="94A3B8"/>
                </a:solidFill>
                <a:latin typeface="Segoe UI"/>
              </a:rPr>
              <a:t>PDF/CSV/JSON exports, diagnostic health checks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14800" y="3383280"/>
            <a:ext cx="365760" cy="228600"/>
          </a:xfrm>
          <a:prstGeom prst="rightArrow">
            <a:avLst/>
          </a:prstGeom>
          <a:solidFill>
            <a:srgbClr val="34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39" y="3675887"/>
            <a:ext cx="64008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800" b="1">
                <a:solidFill>
                  <a:srgbClr val="34C6D2"/>
                </a:solidFill>
                <a:latin typeface="Segoe UI"/>
              </a:defRPr>
            </a:pPr>
            <a:r>
              <a:t>HTTP</a:t>
            </a:r>
            <a:br/>
            <a:r>
              <a:t>REST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53712" y="1627632"/>
            <a:ext cx="3566160" cy="4023360"/>
          </a:xfrm>
          <a:prstGeom prst="roundRect">
            <a:avLst/>
          </a:prstGeom>
          <a:solidFill>
            <a:srgbClr val="142640"/>
          </a:solidFill>
          <a:ln w="19050">
            <a:solidFill>
              <a:srgbClr val="2E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tIns="182880" rIns="228600" wrap="square"/>
          <a:lstStyle/>
          <a:p>
            <a:pPr algn="l">
              <a:defRPr sz="1200" b="1">
                <a:solidFill>
                  <a:srgbClr val="34C6D2"/>
                </a:solidFill>
                <a:latin typeface="Segoe UI"/>
              </a:defRPr>
            </a:pPr>
            <a:r>
              <a:t>BACKEND ORCHESTRATION</a:t>
            </a:r>
          </a:p>
          <a:p>
            <a:pPr algn="l">
              <a:defRPr sz="900" b="1">
                <a:solidFill>
                  <a:srgbClr val="B4F0F5"/>
                </a:solidFill>
                <a:latin typeface="Segoe UI"/>
              </a:defRPr>
            </a:pPr>
            <a:r>
              <a:t>FastAPI Asynchronous REST API  •  localhost:8000</a:t>
            </a:r>
          </a:p>
          <a:p>
            <a:pPr algn="l">
              <a:spcBef>
                <a:spcPts val="500"/>
              </a:spcBef>
            </a:pPr>
            <a:r>
              <a:rPr sz="950" b="1">
                <a:solidFill>
                  <a:srgbClr val="F1F5F9"/>
                </a:solidFill>
                <a:latin typeface="Segoe UI"/>
              </a:rPr>
              <a:t>• Document Ingestion Service: </a:t>
            </a:r>
            <a:r>
              <a:rPr sz="850">
                <a:solidFill>
                  <a:srgbClr val="94A3B8"/>
                </a:solidFill>
                <a:latin typeface="Segoe UI"/>
              </a:rPr>
              <a:t>PyMuPDF parsing, bookmark extraction, chunking</a:t>
            </a:r>
          </a:p>
          <a:p>
            <a:pPr algn="l">
              <a:spcBef>
                <a:spcPts val="500"/>
              </a:spcBef>
            </a:pPr>
            <a:r>
              <a:rPr sz="950" b="1">
                <a:solidFill>
                  <a:srgbClr val="F1F5F9"/>
                </a:solidFill>
                <a:latin typeface="Segoe UI"/>
              </a:rPr>
              <a:t>• Hybrid Retrieval Engine: </a:t>
            </a:r>
            <a:r>
              <a:rPr sz="850">
                <a:solidFill>
                  <a:srgbClr val="94A3B8"/>
                </a:solidFill>
                <a:latin typeface="Segoe UI"/>
              </a:rPr>
              <a:t>ChromaDB dense vectors + BM25 keyword + RRF</a:t>
            </a:r>
          </a:p>
          <a:p>
            <a:pPr algn="l">
              <a:spcBef>
                <a:spcPts val="500"/>
              </a:spcBef>
            </a:pPr>
            <a:r>
              <a:rPr sz="950" b="1">
                <a:solidFill>
                  <a:srgbClr val="F1F5F9"/>
                </a:solidFill>
                <a:latin typeface="Segoe UI"/>
              </a:rPr>
              <a:t>• LLM Orchestrator Service: </a:t>
            </a:r>
            <a:r>
              <a:rPr sz="850">
                <a:solidFill>
                  <a:srgbClr val="94A3B8"/>
                </a:solidFill>
                <a:latin typeface="Segoe UI"/>
              </a:rPr>
              <a:t>Context assembly, prompt formatting, abstention</a:t>
            </a:r>
          </a:p>
          <a:p>
            <a:pPr algn="l">
              <a:spcBef>
                <a:spcPts val="500"/>
              </a:spcBef>
            </a:pPr>
            <a:r>
              <a:rPr sz="950" b="1">
                <a:solidFill>
                  <a:srgbClr val="F1F5F9"/>
                </a:solidFill>
                <a:latin typeface="Segoe UI"/>
              </a:rPr>
              <a:t>• Entity &amp; Rule Validator: </a:t>
            </a:r>
            <a:r>
              <a:rPr sz="850">
                <a:solidFill>
                  <a:srgbClr val="94A3B8"/>
                </a:solidFill>
                <a:latin typeface="Segoe UI"/>
              </a:rPr>
              <a:t>Extracts SWC/Ports/Signals; circular dependency checks</a:t>
            </a:r>
          </a:p>
          <a:p>
            <a:pPr algn="l">
              <a:spcBef>
                <a:spcPts val="500"/>
              </a:spcBef>
            </a:pPr>
            <a:r>
              <a:rPr sz="950" b="1">
                <a:solidFill>
                  <a:srgbClr val="F1F5F9"/>
                </a:solidFill>
                <a:latin typeface="Segoe UI"/>
              </a:rPr>
              <a:t>• Grounding &amp; Claim Service: </a:t>
            </a:r>
            <a:r>
              <a:rPr sz="850">
                <a:solidFill>
                  <a:srgbClr val="94A3B8"/>
                </a:solidFill>
                <a:latin typeface="Segoe UI"/>
              </a:rPr>
              <a:t>Claim segmentation &amp; independent evidence checks</a:t>
            </a:r>
          </a:p>
          <a:p>
            <a:pPr algn="l">
              <a:spcBef>
                <a:spcPts val="500"/>
              </a:spcBef>
            </a:pPr>
            <a:r>
              <a:rPr sz="950" b="1">
                <a:solidFill>
                  <a:srgbClr val="F1F5F9"/>
                </a:solidFill>
                <a:latin typeface="Segoe UI"/>
              </a:rPr>
              <a:t>• Comparison &amp; Diff Engine: </a:t>
            </a:r>
            <a:r>
              <a:rPr sz="850">
                <a:solidFill>
                  <a:srgbClr val="94A3B8"/>
                </a:solidFill>
                <a:latin typeface="Segoe UI"/>
              </a:rPr>
              <a:t>Computes structural deltas &amp; rename detection</a:t>
            </a:r>
          </a:p>
          <a:p>
            <a:pPr algn="l">
              <a:spcBef>
                <a:spcPts val="500"/>
              </a:spcBef>
            </a:pPr>
            <a:r>
              <a:rPr sz="950" b="1">
                <a:solidFill>
                  <a:srgbClr val="F1F5F9"/>
                </a:solidFill>
                <a:latin typeface="Segoe UI"/>
              </a:rPr>
              <a:t>• Report Generation Service: </a:t>
            </a:r>
            <a:r>
              <a:rPr sz="850">
                <a:solidFill>
                  <a:srgbClr val="94A3B8"/>
                </a:solidFill>
                <a:latin typeface="Segoe UI"/>
              </a:rPr>
              <a:t>ReportLab PDF generation &amp; CSV sanitization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211312" y="3383280"/>
            <a:ext cx="365760" cy="228600"/>
          </a:xfrm>
          <a:prstGeom prst="rightArrow">
            <a:avLst/>
          </a:prstGeom>
          <a:solidFill>
            <a:srgbClr val="34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74152" y="3675887"/>
            <a:ext cx="64008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800" b="1">
                <a:solidFill>
                  <a:srgbClr val="34C6D2"/>
                </a:solidFill>
                <a:latin typeface="Segoe UI"/>
              </a:defRPr>
            </a:pPr>
            <a:r>
              <a:t>SQL / IPC</a:t>
            </a:r>
            <a:br/>
            <a:r>
              <a:t>REST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68512" y="1627632"/>
            <a:ext cx="2788920" cy="4023360"/>
          </a:xfrm>
          <a:prstGeom prst="roundRect">
            <a:avLst/>
          </a:prstGeom>
          <a:solidFill>
            <a:srgbClr val="142640"/>
          </a:solidFill>
          <a:ln w="19050">
            <a:solidFill>
              <a:srgbClr val="2E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tIns="182880" rIns="201168" wrap="square"/>
          <a:lstStyle/>
          <a:p>
            <a:pPr algn="l">
              <a:defRPr sz="1200" b="1">
                <a:solidFill>
                  <a:srgbClr val="34C6D2"/>
                </a:solidFill>
                <a:latin typeface="Segoe UI"/>
              </a:defRPr>
            </a:pPr>
            <a:r>
              <a:t>DATA &amp; LOCAL AI LAYER</a:t>
            </a:r>
          </a:p>
          <a:p>
            <a:pPr algn="l">
              <a:defRPr sz="900" b="1">
                <a:solidFill>
                  <a:srgbClr val="B4F0F5"/>
                </a:solidFill>
                <a:latin typeface="Segoe UI"/>
              </a:defRPr>
            </a:pPr>
            <a:r>
              <a:t>Zero Cloud Dependency  •  100% Offline</a:t>
            </a:r>
          </a:p>
          <a:p>
            <a:pPr algn="l">
              <a:spcBef>
                <a:spcPts val="600"/>
              </a:spcBef>
            </a:pPr>
            <a:r>
              <a:rPr sz="950" b="1">
                <a:solidFill>
                  <a:srgbClr val="F1F5F9"/>
                </a:solidFill>
                <a:latin typeface="Segoe UI"/>
              </a:rPr>
              <a:t>• SQLite (autosar_ai.db)
</a:t>
            </a:r>
            <a:r>
              <a:rPr sz="800">
                <a:solidFill>
                  <a:srgbClr val="94A3B8"/>
                </a:solidFill>
                <a:latin typeface="Segoe UI"/>
              </a:rPr>
              <a:t>  SQLAlchemy ORM + Alembic migrations</a:t>
            </a:r>
          </a:p>
          <a:p>
            <a:pPr algn="l">
              <a:spcBef>
                <a:spcPts val="600"/>
              </a:spcBef>
            </a:pPr>
            <a:r>
              <a:rPr sz="950" b="1">
                <a:solidFill>
                  <a:srgbClr val="F1F5F9"/>
                </a:solidFill>
                <a:latin typeface="Segoe UI"/>
              </a:rPr>
              <a:t>• ChromaDB (Persistent)
</a:t>
            </a:r>
            <a:r>
              <a:rPr sz="800">
                <a:solidFill>
                  <a:srgbClr val="94A3B8"/>
                </a:solidFill>
                <a:latin typeface="Segoe UI"/>
              </a:rPr>
              <a:t>  Persistent HNSW embeddings in ./data/vector_store</a:t>
            </a:r>
          </a:p>
          <a:p>
            <a:pPr algn="l">
              <a:spcBef>
                <a:spcPts val="600"/>
              </a:spcBef>
            </a:pPr>
            <a:r>
              <a:rPr sz="950" b="1">
                <a:solidFill>
                  <a:srgbClr val="F1F5F9"/>
                </a:solidFill>
                <a:latin typeface="Segoe UI"/>
              </a:rPr>
              <a:t>• all-MiniLM-L6-v2
</a:t>
            </a:r>
            <a:r>
              <a:rPr sz="800">
                <a:solidFill>
                  <a:srgbClr val="94A3B8"/>
                </a:solidFill>
                <a:latin typeface="Segoe UI"/>
              </a:rPr>
              <a:t>  SentenceTransformers (384-dimensional dense vectors)</a:t>
            </a:r>
          </a:p>
          <a:p>
            <a:pPr algn="l">
              <a:spcBef>
                <a:spcPts val="600"/>
              </a:spcBef>
            </a:pPr>
            <a:r>
              <a:rPr sz="950" b="1">
                <a:solidFill>
                  <a:srgbClr val="F1F5F9"/>
                </a:solidFill>
                <a:latin typeface="Segoe UI"/>
              </a:rPr>
              <a:t>• Ollama (llama3.2:3b)
</a:t>
            </a:r>
            <a:r>
              <a:rPr sz="800">
                <a:solidFill>
                  <a:srgbClr val="94A3B8"/>
                </a:solidFill>
                <a:latin typeface="Segoe UI"/>
              </a:rPr>
              <a:t>  Local server at localhost:11434; zero telemetry</a:t>
            </a:r>
          </a:p>
          <a:p>
            <a:pPr algn="l">
              <a:spcBef>
                <a:spcPts val="600"/>
              </a:spcBef>
            </a:pPr>
            <a:r>
              <a:rPr sz="950" b="1">
                <a:solidFill>
                  <a:srgbClr val="F1F5F9"/>
                </a:solidFill>
                <a:latin typeface="Segoe UI"/>
              </a:rPr>
              <a:t>• File System Storage
</a:t>
            </a:r>
            <a:r>
              <a:rPr sz="800">
                <a:solidFill>
                  <a:srgbClr val="94A3B8"/>
                </a:solidFill>
                <a:latin typeface="Segoe UI"/>
              </a:rPr>
              <a:t>  Raw PDFs &amp; generated exports in ./data/uploads &amp; exports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101E34"/>
          </a:solidFill>
          <a:ln w="12700">
            <a:solidFill>
              <a:srgbClr val="2E5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09728" wrap="square"/>
          <a:lstStyle/>
          <a:p>
            <a:pPr algn="l">
              <a:defRPr sz="950" b="1">
                <a:solidFill>
                  <a:srgbClr val="34C6D2"/>
                </a:solidFill>
                <a:latin typeface="Segoe UI"/>
              </a:defRPr>
            </a:pPr>
            <a:r>
              <a:t>ARCHITECTURE HIGHLIGHTS: </a:t>
            </a:r>
            <a:r>
              <a:rPr sz="900">
                <a:solidFill>
                  <a:srgbClr val="F1F5F9"/>
                </a:solidFill>
                <a:latin typeface="Segoe UI"/>
              </a:rPr>
              <a:t>Strict Multi-Process Isolation: </a:t>
            </a:r>
            <a:r>
              <a:rPr sz="900">
                <a:solidFill>
                  <a:srgbClr val="94A3B8"/>
                </a:solidFill>
                <a:latin typeface="Segoe UI"/>
              </a:rPr>
              <a:t>Streamlit (8501) ↔ FastAPI (8000) ↔ Ollama (11434) run as independent processes.  </a:t>
            </a:r>
            <a:r>
              <a:rPr sz="900">
                <a:solidFill>
                  <a:srgbClr val="F1F5F9"/>
                </a:solidFill>
                <a:latin typeface="Segoe UI"/>
              </a:rPr>
              <a:t>Air-Gapped Operation: </a:t>
            </a:r>
            <a:r>
              <a:rPr sz="900">
                <a:solidFill>
                  <a:srgbClr val="94A3B8"/>
                </a:solidFill>
                <a:latin typeface="Segoe UI"/>
              </a:rPr>
              <a:t>Zero external API dependencies; robust privacy for proprietary automotive IP.  </a:t>
            </a:r>
            <a:r>
              <a:rPr sz="900">
                <a:solidFill>
                  <a:srgbClr val="F1F5F9"/>
                </a:solidFill>
                <a:latin typeface="Segoe UI"/>
              </a:rPr>
              <a:t>Reproducible: </a:t>
            </a:r>
            <a:r>
              <a:rPr sz="900">
                <a:solidFill>
                  <a:srgbClr val="94A3B8"/>
                </a:solidFill>
                <a:latin typeface="Segoe UI"/>
              </a:rPr>
              <a:t>Docker &amp; docker-compose enabled.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880">
                <a:solidFill>
                  <a:srgbClr val="5A6E8C"/>
                </a:solidFill>
                <a:latin typeface="Segoe UI"/>
              </a:defRPr>
            </a:pPr>
            <a:r>
              <a:t>AUTOSAR AI – High-Level Design Document Intelligence Platform  |  Hamdhan Ahmed B (Reg: 127003081)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34C6D2"/>
                </a:solidFill>
                <a:latin typeface="Segoe UI"/>
              </a:defRPr>
            </a:pPr>
            <a: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2E7EDC"/>
                </a:solidFill>
                <a:latin typeface="Segoe UI"/>
              </a:defRPr>
            </a:pPr>
            <a:r>
              <a:t>DATA 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Document Ingestion and Indexing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>
                <a:solidFill>
                  <a:srgbClr val="475569"/>
                </a:solidFill>
                <a:latin typeface="Segoe UI"/>
              </a:defRPr>
            </a:pPr>
            <a:r>
              <a:t>Structured multi-stage transformation from raw automotive PDF specifications to searchable knowledge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64208"/>
            <a:ext cx="1609344" cy="3858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tIns="128016" rIns="109728" wrap="square"/>
          <a:lstStyle/>
          <a:p>
            <a:pPr algn="l">
              <a:defRPr sz="900" b="1">
                <a:solidFill>
                  <a:srgbClr val="2E7EDC"/>
                </a:solidFill>
                <a:latin typeface="Segoe UI"/>
              </a:defRPr>
            </a:pPr>
            <a:r>
              <a:t>STEP 1</a:t>
            </a:r>
          </a:p>
          <a:p>
            <a:pPr algn="l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Upload &amp; Validate</a:t>
            </a:r>
          </a:p>
          <a:p>
            <a:pPr algn="l">
              <a:defRPr sz="850" b="1">
                <a:solidFill>
                  <a:srgbClr val="34C6D2"/>
                </a:solidFill>
                <a:latin typeface="Segoe UI"/>
              </a:defRPr>
            </a:pPr>
            <a:r>
              <a:t>PDF Upload</a:t>
            </a:r>
          </a:p>
          <a:p>
            <a:pPr algn="l">
              <a:spcBef>
                <a:spcPts val="4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Engineer uploads HLD PDF via Streamlit UI</a:t>
            </a:r>
          </a:p>
          <a:p>
            <a:pPr algn="l">
              <a:spcBef>
                <a:spcPts val="4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File extension &amp; 50MB size limit validation</a:t>
            </a:r>
          </a:p>
          <a:p>
            <a:pPr algn="l">
              <a:spcBef>
                <a:spcPts val="4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SHA-256 fingerprint computed for duplicate check</a:t>
            </a:r>
          </a:p>
          <a:p>
            <a:pPr algn="l">
              <a:spcBef>
                <a:spcPts val="4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Document record set to PENDING in SQLite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64208"/>
            <a:ext cx="1609344" cy="73152"/>
          </a:xfrm>
          <a:prstGeom prst="rect">
            <a:avLst/>
          </a:prstGeom>
          <a:solidFill>
            <a:srgbClr val="2E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2377440" y="3310128"/>
            <a:ext cx="137160" cy="164592"/>
          </a:xfrm>
          <a:prstGeom prst="rightArrow">
            <a:avLst/>
          </a:prstGeom>
          <a:solidFill>
            <a:srgbClr val="2E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51176" y="1664208"/>
            <a:ext cx="1609344" cy="3858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tIns="128016" rIns="109728" wrap="square"/>
          <a:lstStyle/>
          <a:p>
            <a:pPr algn="l">
              <a:defRPr sz="900" b="1">
                <a:solidFill>
                  <a:srgbClr val="2E7EDC"/>
                </a:solidFill>
                <a:latin typeface="Segoe UI"/>
              </a:defRPr>
            </a:pPr>
            <a:r>
              <a:t>STEP 2</a:t>
            </a:r>
          </a:p>
          <a:p>
            <a:pPr algn="l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Parse &amp; Extract</a:t>
            </a:r>
          </a:p>
          <a:p>
            <a:pPr algn="l">
              <a:defRPr sz="850" b="1">
                <a:solidFill>
                  <a:srgbClr val="34C6D2"/>
                </a:solidFill>
                <a:latin typeface="Segoe UI"/>
              </a:defRPr>
            </a:pPr>
            <a:r>
              <a:t>PyMuPDF Engine</a:t>
            </a:r>
          </a:p>
          <a:p>
            <a:pPr algn="l">
              <a:spcBef>
                <a:spcPts val="4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PyMuPDF (fitz) extracts text page-by-page</a:t>
            </a:r>
          </a:p>
          <a:p>
            <a:pPr algn="l">
              <a:spcBef>
                <a:spcPts val="4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Physical page numbers preserved for citations</a:t>
            </a:r>
          </a:p>
          <a:p>
            <a:pPr algn="l">
              <a:spcBef>
                <a:spcPts val="4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TOC &amp; bookmark hierarchy extracted</a:t>
            </a:r>
          </a:p>
          <a:p>
            <a:pPr algn="l">
              <a:spcBef>
                <a:spcPts val="4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Heading context associated with passages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51176" y="1664208"/>
            <a:ext cx="1609344" cy="73152"/>
          </a:xfrm>
          <a:prstGeom prst="rect">
            <a:avLst/>
          </a:prstGeom>
          <a:solidFill>
            <a:srgbClr val="2E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4197096" y="3310128"/>
            <a:ext cx="137160" cy="164592"/>
          </a:xfrm>
          <a:prstGeom prst="rightArrow">
            <a:avLst/>
          </a:prstGeom>
          <a:solidFill>
            <a:srgbClr val="2E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70832" y="1664208"/>
            <a:ext cx="1609344" cy="3858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tIns="128016" rIns="109728" wrap="square"/>
          <a:lstStyle/>
          <a:p>
            <a:pPr algn="l">
              <a:defRPr sz="900" b="1">
                <a:solidFill>
                  <a:srgbClr val="2E7EDC"/>
                </a:solidFill>
                <a:latin typeface="Segoe UI"/>
              </a:defRPr>
            </a:pPr>
            <a:r>
              <a:t>STEP 3</a:t>
            </a:r>
          </a:p>
          <a:p>
            <a:pPr algn="l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Chunk &amp; Window</a:t>
            </a:r>
          </a:p>
          <a:p>
            <a:pPr algn="l">
              <a:defRPr sz="850" b="1">
                <a:solidFill>
                  <a:srgbClr val="34C6D2"/>
                </a:solidFill>
                <a:latin typeface="Segoe UI"/>
              </a:defRPr>
            </a:pPr>
            <a:r>
              <a:t>Sliding Window</a:t>
            </a:r>
          </a:p>
          <a:p>
            <a:pPr algn="l">
              <a:spcBef>
                <a:spcPts val="4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Sliding window text partitioning</a:t>
            </a:r>
          </a:p>
          <a:p>
            <a:pPr algn="l">
              <a:spcBef>
                <a:spcPts val="4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Chunk size: 1,000 characters</a:t>
            </a:r>
          </a:p>
          <a:p>
            <a:pPr algn="l">
              <a:spcBef>
                <a:spcPts val="4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Chunk overlap: 150 characters</a:t>
            </a:r>
          </a:p>
          <a:p>
            <a:pPr algn="l">
              <a:spcBef>
                <a:spcPts val="4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Preserves sentence and section semantics</a:t>
            </a:r>
          </a:p>
          <a:p>
            <a:pPr algn="l">
              <a:spcBef>
                <a:spcPts val="4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Generates unique chunk hashes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1664208"/>
            <a:ext cx="1609344" cy="73152"/>
          </a:xfrm>
          <a:prstGeom prst="rect">
            <a:avLst/>
          </a:prstGeom>
          <a:solidFill>
            <a:srgbClr val="2E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6016752" y="3310128"/>
            <a:ext cx="137160" cy="164592"/>
          </a:xfrm>
          <a:prstGeom prst="rightArrow">
            <a:avLst/>
          </a:prstGeom>
          <a:solidFill>
            <a:srgbClr val="2E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0488" y="1664208"/>
            <a:ext cx="1609344" cy="3858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tIns="128016" rIns="109728" wrap="square"/>
          <a:lstStyle/>
          <a:p>
            <a:pPr algn="l">
              <a:defRPr sz="900" b="1">
                <a:solidFill>
                  <a:srgbClr val="2E7EDC"/>
                </a:solidFill>
                <a:latin typeface="Segoe UI"/>
              </a:defRPr>
            </a:pPr>
            <a:r>
              <a:t>STEP 4</a:t>
            </a:r>
          </a:p>
          <a:p>
            <a:pPr algn="l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Embeddings</a:t>
            </a:r>
          </a:p>
          <a:p>
            <a:pPr algn="l">
              <a:defRPr sz="850" b="1">
                <a:solidFill>
                  <a:srgbClr val="34C6D2"/>
                </a:solidFill>
                <a:latin typeface="Segoe UI"/>
              </a:defRPr>
            </a:pPr>
            <a:r>
              <a:t>Dense Vectors</a:t>
            </a:r>
          </a:p>
          <a:p>
            <a:pPr algn="l">
              <a:spcBef>
                <a:spcPts val="4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SentenceTransformers all-MiniLM-L6-v2</a:t>
            </a:r>
          </a:p>
          <a:p>
            <a:pPr algn="l">
              <a:spcBef>
                <a:spcPts val="4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Generates 384-dimensional dense vectors</a:t>
            </a:r>
          </a:p>
          <a:p>
            <a:pPr algn="l">
              <a:spcBef>
                <a:spcPts val="4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Attaches document_id, version_label, page_start, page_end</a:t>
            </a:r>
          </a:p>
          <a:p>
            <a:pPr algn="l">
              <a:spcBef>
                <a:spcPts val="4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Runs locally on CPU/GPU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0488" y="1664208"/>
            <a:ext cx="1609344" cy="73152"/>
          </a:xfrm>
          <a:prstGeom prst="rect">
            <a:avLst/>
          </a:prstGeom>
          <a:solidFill>
            <a:srgbClr val="2E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836407" y="3310128"/>
            <a:ext cx="137160" cy="164592"/>
          </a:xfrm>
          <a:prstGeom prst="rightArrow">
            <a:avLst/>
          </a:prstGeom>
          <a:solidFill>
            <a:srgbClr val="2E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10144" y="1664208"/>
            <a:ext cx="1609344" cy="3858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tIns="128016" rIns="109728" wrap="square"/>
          <a:lstStyle/>
          <a:p>
            <a:pPr algn="l">
              <a:defRPr sz="900" b="1">
                <a:solidFill>
                  <a:srgbClr val="2E7EDC"/>
                </a:solidFill>
                <a:latin typeface="Segoe UI"/>
              </a:defRPr>
            </a:pPr>
            <a:r>
              <a:t>STEP 5</a:t>
            </a:r>
          </a:p>
          <a:p>
            <a:pPr algn="l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Dual Storage</a:t>
            </a:r>
          </a:p>
          <a:p>
            <a:pPr algn="l">
              <a:defRPr sz="850" b="1">
                <a:solidFill>
                  <a:srgbClr val="34C6D2"/>
                </a:solidFill>
                <a:latin typeface="Segoe UI"/>
              </a:defRPr>
            </a:pPr>
            <a:r>
              <a:t>Persistent Stores</a:t>
            </a:r>
          </a:p>
          <a:p>
            <a:pPr algn="l">
              <a:spcBef>
                <a:spcPts val="4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Vectors &amp; metadata saved in ChromaDB</a:t>
            </a:r>
          </a:p>
          <a:p>
            <a:pPr algn="l">
              <a:spcBef>
                <a:spcPts val="4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Structured chunk records in SQLite database</a:t>
            </a:r>
          </a:p>
          <a:p>
            <a:pPr algn="l">
              <a:spcBef>
                <a:spcPts val="4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Relational foreign keys linked to Document</a:t>
            </a:r>
          </a:p>
          <a:p>
            <a:pPr algn="l">
              <a:spcBef>
                <a:spcPts val="4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Document status updated to READY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0144" y="1664208"/>
            <a:ext cx="1609344" cy="73152"/>
          </a:xfrm>
          <a:prstGeom prst="rect">
            <a:avLst/>
          </a:prstGeom>
          <a:solidFill>
            <a:srgbClr val="2E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9656063" y="3310128"/>
            <a:ext cx="137160" cy="164592"/>
          </a:xfrm>
          <a:prstGeom prst="rightArrow">
            <a:avLst/>
          </a:prstGeom>
          <a:solidFill>
            <a:srgbClr val="2E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29800" y="1664208"/>
            <a:ext cx="1609344" cy="3858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tIns="128016" rIns="109728" wrap="square"/>
          <a:lstStyle/>
          <a:p>
            <a:pPr algn="l">
              <a:defRPr sz="900" b="1">
                <a:solidFill>
                  <a:srgbClr val="2E7EDC"/>
                </a:solidFill>
                <a:latin typeface="Segoe UI"/>
              </a:defRPr>
            </a:pPr>
            <a:r>
              <a:t>STEP 6</a:t>
            </a:r>
          </a:p>
          <a:p>
            <a:pPr algn="l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Extraction</a:t>
            </a:r>
          </a:p>
          <a:p>
            <a:pPr algn="l">
              <a:defRPr sz="850" b="1">
                <a:solidFill>
                  <a:srgbClr val="34C6D2"/>
                </a:solidFill>
                <a:latin typeface="Segoe UI"/>
              </a:defRPr>
            </a:pPr>
            <a:r>
              <a:t>Entity Discovery</a:t>
            </a:r>
          </a:p>
          <a:p>
            <a:pPr algn="l">
              <a:spcBef>
                <a:spcPts val="4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Regex heuristics extract:</a:t>
            </a:r>
          </a:p>
          <a:p>
            <a:pPr algn="l">
              <a:spcBef>
                <a:spcPts val="4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  • Software Components (SWC)</a:t>
            </a:r>
          </a:p>
          <a:p>
            <a:pPr algn="l">
              <a:spcBef>
                <a:spcPts val="4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  • Runnables (Runnable_*)</a:t>
            </a:r>
          </a:p>
          <a:p>
            <a:pPr algn="l">
              <a:spcBef>
                <a:spcPts val="4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  • Interfaces (*_IF)</a:t>
            </a:r>
          </a:p>
          <a:p>
            <a:pPr algn="l">
              <a:spcBef>
                <a:spcPts val="4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  • Ports (PPort / RPort)</a:t>
            </a:r>
          </a:p>
          <a:p>
            <a:pPr algn="l">
              <a:spcBef>
                <a:spcPts val="4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  • Signals (Signal_*, types)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29800" y="1664208"/>
            <a:ext cx="1609344" cy="73152"/>
          </a:xfrm>
          <a:prstGeom prst="rect">
            <a:avLst/>
          </a:prstGeom>
          <a:solidFill>
            <a:srgbClr val="34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5715000"/>
            <a:ext cx="10728655" cy="6217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tIns="109728" rIns="228600" wrap="square"/>
          <a:lstStyle/>
          <a:p>
            <a:pPr algn="l"/>
            <a:r>
              <a:rPr sz="950" b="1">
                <a:solidFill>
                  <a:srgbClr val="0F172A"/>
                </a:solidFill>
                <a:latin typeface="Segoe UI"/>
              </a:rPr>
              <a:t>IMPLEMENTATION STATUS &amp; ARCHITECTURAL SCOPE NOTE:  </a:t>
            </a:r>
            <a:r>
              <a:rPr sz="900">
                <a:solidFill>
                  <a:srgbClr val="475569"/>
                </a:solidFill>
                <a:latin typeface="Segoe UI"/>
              </a:rPr>
              <a:t>Current implementation actively extracts Software Components, Runnables, Interfaces, Ports (PPort/RPort), and Signals via pattern-based heuristic extractors with confidence scores (0.88–0.92). Granular AST-based ARXML schema validation, complex bus packaging, and schedule table extraction are designated for Phase 2.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880">
                <a:solidFill>
                  <a:srgbClr val="8C9BAF"/>
                </a:solidFill>
                <a:latin typeface="Segoe UI"/>
              </a:defRPr>
            </a:pPr>
            <a:r>
              <a:t>AUTOSAR AI – High-Level Design Document Intelligence Platform  |  Hamdhan Ahmed B (Reg: 127003081)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E7EDC"/>
                </a:solidFill>
                <a:latin typeface="Segoe UI"/>
              </a:defRPr>
            </a:pPr>
            <a: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2E7EDC"/>
                </a:solidFill>
                <a:latin typeface="Segoe UI"/>
              </a:defRPr>
            </a:pPr>
            <a:r>
              <a:t>RETRIEVAL-AUGMENTED GENERATION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AI Assistant and RAG 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>
                <a:solidFill>
                  <a:srgbClr val="475569"/>
                </a:solidFill>
                <a:latin typeface="Segoe UI"/>
              </a:defRPr>
            </a:pPr>
            <a:r>
              <a:t>Local inference pipeline delivering evidence-grounded answers with verifiable citations and abstention safeguards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64208"/>
            <a:ext cx="25146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tIns="146304" rIns="164592" wrap="square"/>
          <a:lstStyle/>
          <a:p>
            <a:pPr algn="l">
              <a:defRPr sz="850" b="1">
                <a:solidFill>
                  <a:srgbClr val="2E7EDC"/>
                </a:solidFill>
                <a:latin typeface="Segoe UI"/>
              </a:defRPr>
            </a:pPr>
            <a:r>
              <a:t>STAGE 1: RETRIEVAL</a:t>
            </a:r>
          </a:p>
          <a:p>
            <a:pPr algn="l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Hybrid Semantic Search</a:t>
            </a:r>
          </a:p>
          <a:p>
            <a:pPr algn="l">
              <a:spcBef>
                <a:spcPts val="400"/>
              </a:spcBef>
              <a:defRPr sz="840">
                <a:solidFill>
                  <a:srgbClr val="475569"/>
                </a:solidFill>
                <a:latin typeface="Segoe UI"/>
              </a:defRPr>
            </a:pPr>
            <a:r>
              <a:t>• Engineer enters natural-language engineering query in UI</a:t>
            </a:r>
          </a:p>
          <a:p>
            <a:pPr algn="l">
              <a:spcBef>
                <a:spcPts val="400"/>
              </a:spcBef>
              <a:defRPr sz="840">
                <a:solidFill>
                  <a:srgbClr val="475569"/>
                </a:solidFill>
                <a:latin typeface="Segoe UI"/>
              </a:defRPr>
            </a:pPr>
            <a:r>
              <a:t>• Query encoded into 384-d vector via all-MiniLM-L6-v2</a:t>
            </a:r>
          </a:p>
          <a:p>
            <a:pPr algn="l">
              <a:spcBef>
                <a:spcPts val="400"/>
              </a:spcBef>
              <a:defRPr sz="840">
                <a:solidFill>
                  <a:srgbClr val="475569"/>
                </a:solidFill>
                <a:latin typeface="Segoe UI"/>
              </a:defRPr>
            </a:pPr>
            <a:r>
              <a:t>• ChromaDB performs dense cosine vector search (top_k=5)</a:t>
            </a:r>
          </a:p>
          <a:p>
            <a:pPr algn="l">
              <a:spcBef>
                <a:spcPts val="400"/>
              </a:spcBef>
              <a:defRPr sz="840">
                <a:solidFill>
                  <a:srgbClr val="475569"/>
                </a:solidFill>
                <a:latin typeface="Segoe UI"/>
              </a:defRPr>
            </a:pPr>
            <a:r>
              <a:t>• BM25 keyword search scores candidate document passages</a:t>
            </a:r>
          </a:p>
          <a:p>
            <a:pPr algn="l">
              <a:spcBef>
                <a:spcPts val="400"/>
              </a:spcBef>
              <a:defRPr sz="840">
                <a:solidFill>
                  <a:srgbClr val="475569"/>
                </a:solidFill>
                <a:latin typeface="Segoe UI"/>
              </a:defRPr>
            </a:pPr>
            <a:r>
              <a:t>• Reciprocal Rank Fusion (RRF) merges dense and keyword ranks</a:t>
            </a:r>
          </a:p>
          <a:p>
            <a:pPr algn="l">
              <a:spcBef>
                <a:spcPts val="400"/>
              </a:spcBef>
              <a:defRPr sz="840">
                <a:solidFill>
                  <a:srgbClr val="475569"/>
                </a:solidFill>
                <a:latin typeface="Segoe UI"/>
              </a:defRPr>
            </a:pPr>
            <a:r>
              <a:t>• Extracts top hits with document, page, and section metadata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64208"/>
            <a:ext cx="2514600" cy="73152"/>
          </a:xfrm>
          <a:prstGeom prst="rect">
            <a:avLst/>
          </a:prstGeom>
          <a:solidFill>
            <a:srgbClr val="2E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3291839" y="3127248"/>
            <a:ext cx="128016" cy="182880"/>
          </a:xfrm>
          <a:prstGeom prst="rightArrow">
            <a:avLst/>
          </a:prstGeom>
          <a:solidFill>
            <a:srgbClr val="2E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65576" y="1664208"/>
            <a:ext cx="25146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tIns="146304" rIns="164592" wrap="square"/>
          <a:lstStyle/>
          <a:p>
            <a:pPr algn="l">
              <a:defRPr sz="850" b="1">
                <a:solidFill>
                  <a:srgbClr val="142640"/>
                </a:solidFill>
                <a:latin typeface="Segoe UI"/>
              </a:defRPr>
            </a:pPr>
            <a:r>
              <a:t>STAGE 2: PROMPTING</a:t>
            </a:r>
          </a:p>
          <a:p>
            <a:pPr algn="l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Context Assembly</a:t>
            </a:r>
          </a:p>
          <a:p>
            <a:pPr algn="l">
              <a:spcBef>
                <a:spcPts val="400"/>
              </a:spcBef>
              <a:defRPr sz="840">
                <a:solidFill>
                  <a:srgbClr val="475569"/>
                </a:solidFill>
                <a:latin typeface="Segoe UI"/>
              </a:defRPr>
            </a:pPr>
            <a:r>
              <a:t>• FastAPI builds strict automotive architecture system prompt</a:t>
            </a:r>
          </a:p>
          <a:p>
            <a:pPr algn="l">
              <a:spcBef>
                <a:spcPts val="400"/>
              </a:spcBef>
              <a:defRPr sz="840">
                <a:solidFill>
                  <a:srgbClr val="475569"/>
                </a:solidFill>
                <a:latin typeface="Segoe UI"/>
              </a:defRPr>
            </a:pPr>
            <a:r>
              <a:t>• Assembles top-k retrieved chunks into structured context window</a:t>
            </a:r>
          </a:p>
          <a:p>
            <a:pPr algn="l">
              <a:spcBef>
                <a:spcPts val="400"/>
              </a:spcBef>
              <a:defRPr sz="840">
                <a:solidFill>
                  <a:srgbClr val="475569"/>
                </a:solidFill>
                <a:latin typeface="Segoe UI"/>
              </a:defRPr>
            </a:pPr>
            <a:r>
              <a:t>• Enforces explicit citation tagging: [Doc: HLD_v1.0, Page 4]</a:t>
            </a:r>
          </a:p>
          <a:p>
            <a:pPr algn="l">
              <a:spcBef>
                <a:spcPts val="400"/>
              </a:spcBef>
              <a:defRPr sz="840">
                <a:solidFill>
                  <a:srgbClr val="475569"/>
                </a:solidFill>
                <a:latin typeface="Segoe UI"/>
              </a:defRPr>
            </a:pPr>
            <a:r>
              <a:t>• Strict Abstention Mandate: If evidence is insufficient, LLM must state lack of evidence rather than hallucinating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65576" y="1664208"/>
            <a:ext cx="2514600" cy="73152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6025896" y="3127248"/>
            <a:ext cx="128016" cy="182880"/>
          </a:xfrm>
          <a:prstGeom prst="rightArrow">
            <a:avLst/>
          </a:prstGeom>
          <a:solidFill>
            <a:srgbClr val="2E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99632" y="1664208"/>
            <a:ext cx="25146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tIns="146304" rIns="164592" wrap="square"/>
          <a:lstStyle/>
          <a:p>
            <a:pPr algn="l">
              <a:defRPr sz="850" b="1">
                <a:solidFill>
                  <a:srgbClr val="34C6D2"/>
                </a:solidFill>
                <a:latin typeface="Segoe UI"/>
              </a:defRPr>
            </a:pPr>
            <a:r>
              <a:t>STAGE 3: INFERENCE</a:t>
            </a:r>
          </a:p>
          <a:p>
            <a:pPr algn="l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Local LLM Synthesis</a:t>
            </a:r>
          </a:p>
          <a:p>
            <a:pPr algn="l">
              <a:spcBef>
                <a:spcPts val="400"/>
              </a:spcBef>
              <a:defRPr sz="840">
                <a:solidFill>
                  <a:srgbClr val="475569"/>
                </a:solidFill>
                <a:latin typeface="Segoe UI"/>
              </a:defRPr>
            </a:pPr>
            <a:r>
              <a:t>• Dispatches assembled context prompt to local Ollama runtime</a:t>
            </a:r>
          </a:p>
          <a:p>
            <a:pPr algn="l">
              <a:spcBef>
                <a:spcPts val="400"/>
              </a:spcBef>
              <a:defRPr sz="840">
                <a:solidFill>
                  <a:srgbClr val="475569"/>
                </a:solidFill>
                <a:latin typeface="Segoe UI"/>
              </a:defRPr>
            </a:pPr>
            <a:r>
              <a:t>• Active model: llama3.2:3b (or Qwen2.5:3b) at localhost:11434</a:t>
            </a:r>
          </a:p>
          <a:p>
            <a:pPr algn="l">
              <a:spcBef>
                <a:spcPts val="400"/>
              </a:spcBef>
              <a:defRPr sz="840">
                <a:solidFill>
                  <a:srgbClr val="475569"/>
                </a:solidFill>
                <a:latin typeface="Segoe UI"/>
              </a:defRPr>
            </a:pPr>
            <a:r>
              <a:t>• Low-temperature deterministic inference (~0.2 temperature)</a:t>
            </a:r>
          </a:p>
          <a:p>
            <a:pPr algn="l">
              <a:spcBef>
                <a:spcPts val="400"/>
              </a:spcBef>
              <a:defRPr sz="840">
                <a:solidFill>
                  <a:srgbClr val="475569"/>
                </a:solidFill>
                <a:latin typeface="Segoe UI"/>
              </a:defRPr>
            </a:pPr>
            <a:r>
              <a:t>• Zero telemetry or cloud traffic; completely air-gapped</a:t>
            </a:r>
          </a:p>
          <a:p>
            <a:pPr algn="l">
              <a:spcBef>
                <a:spcPts val="400"/>
              </a:spcBef>
              <a:defRPr sz="840">
                <a:solidFill>
                  <a:srgbClr val="475569"/>
                </a:solidFill>
                <a:latin typeface="Segoe UI"/>
              </a:defRPr>
            </a:pPr>
            <a:r>
              <a:t>• Synthesizes grounded technical answer referencing citations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664208"/>
            <a:ext cx="2514600" cy="73152"/>
          </a:xfrm>
          <a:prstGeom prst="rect">
            <a:avLst/>
          </a:prstGeom>
          <a:solidFill>
            <a:srgbClr val="34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8759952" y="3127248"/>
            <a:ext cx="128016" cy="182880"/>
          </a:xfrm>
          <a:prstGeom prst="rightArrow">
            <a:avLst/>
          </a:prstGeom>
          <a:solidFill>
            <a:srgbClr val="2E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33688" y="1664208"/>
            <a:ext cx="25146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tIns="146304" rIns="164592" wrap="square"/>
          <a:lstStyle/>
          <a:p>
            <a:pPr algn="l">
              <a:defRPr sz="850" b="1">
                <a:solidFill>
                  <a:srgbClr val="10B981"/>
                </a:solidFill>
                <a:latin typeface="Segoe UI"/>
              </a:defRPr>
            </a:pPr>
            <a:r>
              <a:t>STAGE 4: VALIDATION</a:t>
            </a:r>
          </a:p>
          <a:p>
            <a:pPr algn="l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Grounding &amp; Display</a:t>
            </a:r>
          </a:p>
          <a:p>
            <a:pPr algn="l">
              <a:spcBef>
                <a:spcPts val="400"/>
              </a:spcBef>
              <a:defRPr sz="840">
                <a:solidFill>
                  <a:srgbClr val="475569"/>
                </a:solidFill>
                <a:latin typeface="Segoe UI"/>
              </a:defRPr>
            </a:pPr>
            <a:r>
              <a:t>• Claim Segmentation breaks response into individual assertions</a:t>
            </a:r>
          </a:p>
          <a:p>
            <a:pPr algn="l">
              <a:spcBef>
                <a:spcPts val="400"/>
              </a:spcBef>
              <a:defRPr sz="840">
                <a:solidFill>
                  <a:srgbClr val="475569"/>
                </a:solidFill>
                <a:latin typeface="Segoe UI"/>
              </a:defRPr>
            </a:pPr>
            <a:r>
              <a:t>• Independent claim verification matches assertions to excerpts</a:t>
            </a:r>
          </a:p>
          <a:p>
            <a:pPr algn="l">
              <a:spcBef>
                <a:spcPts val="400"/>
              </a:spcBef>
              <a:defRPr sz="840">
                <a:solidFill>
                  <a:srgbClr val="475569"/>
                </a:solidFill>
                <a:latin typeface="Segoe UI"/>
              </a:defRPr>
            </a:pPr>
            <a:r>
              <a:t>• Computes Grounding Score: (Grounded Claims / Total Claims) %</a:t>
            </a:r>
          </a:p>
          <a:p>
            <a:pPr algn="l">
              <a:spcBef>
                <a:spcPts val="400"/>
              </a:spcBef>
              <a:defRPr sz="840">
                <a:solidFill>
                  <a:srgbClr val="475569"/>
                </a:solidFill>
                <a:latin typeface="Segoe UI"/>
              </a:defRPr>
            </a:pPr>
            <a:r>
              <a:t>• UI renders response with clickable citation source excerpts</a:t>
            </a:r>
          </a:p>
          <a:p>
            <a:pPr algn="l">
              <a:spcBef>
                <a:spcPts val="400"/>
              </a:spcBef>
              <a:defRPr sz="840">
                <a:solidFill>
                  <a:srgbClr val="475569"/>
                </a:solidFill>
                <a:latin typeface="Segoe UI"/>
              </a:defRPr>
            </a:pPr>
            <a:r>
              <a:t>• Flags 'Review Required' badge if Grounding Score is below 80%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33688" y="1664208"/>
            <a:ext cx="2514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5166360"/>
            <a:ext cx="3429000" cy="11155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tIns="91440" rIns="137160" wrap="square"/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Evidence-Grounded Synthesis</a:t>
            </a:r>
          </a:p>
          <a:p>
            <a:pPr algn="l">
              <a:spcBef>
                <a:spcPts val="300"/>
              </a:spcBef>
              <a:defRPr sz="850">
                <a:solidFill>
                  <a:srgbClr val="475569"/>
                </a:solidFill>
                <a:latin typeface="Segoe UI"/>
              </a:defRPr>
            </a:pPr>
            <a:r>
              <a:t>Strict System Prompt constraint: LLM answers only using retrieved passages. If asked about components outside the document, it refrains from speculating.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276088"/>
            <a:ext cx="54864" cy="868680"/>
          </a:xfrm>
          <a:prstGeom prst="rect">
            <a:avLst/>
          </a:prstGeom>
          <a:solidFill>
            <a:srgbClr val="2E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79976" y="5166360"/>
            <a:ext cx="3429000" cy="11155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tIns="91440" rIns="137160" wrap="square"/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Granular Traceability Citations</a:t>
            </a:r>
          </a:p>
          <a:p>
            <a:pPr algn="l">
              <a:spcBef>
                <a:spcPts val="300"/>
              </a:spcBef>
              <a:defRPr sz="850">
                <a:solidFill>
                  <a:srgbClr val="475569"/>
                </a:solidFill>
                <a:latin typeface="Segoe UI"/>
              </a:defRPr>
            </a:pPr>
            <a:r>
              <a:t>Every assertion is supported by document name, version label, and exact physical page number, allowing engineers to verify claims against the original PDF in seconds.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9976" y="5276088"/>
            <a:ext cx="54864" cy="868680"/>
          </a:xfrm>
          <a:prstGeom prst="rect">
            <a:avLst/>
          </a:prstGeom>
          <a:solidFill>
            <a:srgbClr val="34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28432" y="5166360"/>
            <a:ext cx="3429000" cy="11155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tIns="91440" rIns="137160" wrap="square"/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Deterministic Abstention Safeguard</a:t>
            </a:r>
          </a:p>
          <a:p>
            <a:pPr algn="l">
              <a:spcBef>
                <a:spcPts val="300"/>
              </a:spcBef>
              <a:defRPr sz="850">
                <a:solidFill>
                  <a:srgbClr val="475569"/>
                </a:solidFill>
                <a:latin typeface="Segoe UI"/>
              </a:defRPr>
            </a:pPr>
            <a:r>
              <a:t>When retrieved context has similarity below threshold (&lt; 0.5) or lacks key entities, the assistant outputs: 'The available documents do not provide sufficient evidence.'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28432" y="5276088"/>
            <a:ext cx="54864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880">
                <a:solidFill>
                  <a:srgbClr val="8C9BAF"/>
                </a:solidFill>
                <a:latin typeface="Segoe UI"/>
              </a:defRPr>
            </a:pPr>
            <a:r>
              <a:t>AUTOSAR AI – High-Level Design Document Intelligence Platform  |  Hamdhan Ahmed B (Reg: 127003081)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E7EDC"/>
                </a:solidFill>
                <a:latin typeface="Segoe UI"/>
              </a:defRPr>
            </a:pPr>
            <a: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2E7EDC"/>
                </a:solidFill>
                <a:latin typeface="Segoe UI"/>
              </a:defRPr>
            </a:pPr>
            <a:r>
              <a:t>IMPLEMENTED APPLICATION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Comprehensive Functional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>
                <a:solidFill>
                  <a:srgbClr val="475569"/>
                </a:solidFill>
                <a:latin typeface="Segoe UI"/>
              </a:defRPr>
            </a:pPr>
            <a:r>
              <a:t>Six verified functional subsystems spanning document lifecycle, analysis, validation, and enterprise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64208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tIns="109728" rIns="137160" wrap="square"/>
          <a:lstStyle/>
          <a:p>
            <a:pPr algn="l"/>
            <a:r>
              <a:rPr sz="1000" b="1">
                <a:solidFill>
                  <a:srgbClr val="2E7EDC"/>
                </a:solidFill>
                <a:latin typeface="Segoe UI"/>
              </a:rPr>
              <a:t>01. </a:t>
            </a:r>
            <a:r>
              <a:rPr sz="1000" b="1">
                <a:solidFill>
                  <a:srgbClr val="0F172A"/>
                </a:solidFill>
                <a:latin typeface="Segoe UI"/>
              </a:rPr>
              <a:t>DASHBOARD &amp; HEALTH DIAGNOSTICS</a:t>
            </a:r>
          </a:p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Centralized Metrics &amp; Subsystem Telemetry</a:t>
            </a:r>
          </a:p>
          <a:p>
            <a:pPr algn="l">
              <a:spcBef>
                <a:spcPts val="300"/>
              </a:spcBef>
              <a:defRPr sz="819">
                <a:solidFill>
                  <a:srgbClr val="0F172A"/>
                </a:solidFill>
                <a:latin typeface="Segoe UI"/>
              </a:defRPr>
            </a:pPr>
            <a:r>
              <a:t>• Aggregated document counts, total chunk volume, and entity breakdown</a:t>
            </a:r>
          </a:p>
          <a:p>
            <a:pPr algn="l">
              <a:spcBef>
                <a:spcPts val="300"/>
              </a:spcBef>
              <a:defRPr sz="819">
                <a:solidFill>
                  <a:srgbClr val="0F172A"/>
                </a:solidFill>
                <a:latin typeface="Segoe UI"/>
              </a:defRPr>
            </a:pPr>
            <a:r>
              <a:t>• Active LLM provider diagnostics: model name, base URL, latency probe</a:t>
            </a:r>
          </a:p>
          <a:p>
            <a:pPr algn="l">
              <a:spcBef>
                <a:spcPts val="300"/>
              </a:spcBef>
              <a:defRPr sz="819">
                <a:solidFill>
                  <a:srgbClr val="0F172A"/>
                </a:solidFill>
                <a:latin typeface="Segoe UI"/>
              </a:defRPr>
            </a:pPr>
            <a:r>
              <a:t>• Vector store health indicator and ChromaDB collection status</a:t>
            </a:r>
          </a:p>
          <a:p>
            <a:pPr algn="l">
              <a:spcBef>
                <a:spcPts val="300"/>
              </a:spcBef>
              <a:defRPr sz="819">
                <a:solidFill>
                  <a:srgbClr val="0F172A"/>
                </a:solidFill>
                <a:latin typeface="Segoe UI"/>
              </a:defRPr>
            </a:pPr>
            <a:r>
              <a:t>• Audit logs tracking recent ingestion, queries, and review 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01368"/>
            <a:ext cx="54864" cy="1783080"/>
          </a:xfrm>
          <a:prstGeom prst="rect">
            <a:avLst/>
          </a:prstGeom>
          <a:solidFill>
            <a:srgbClr val="2E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79976" y="1664208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tIns="109728" rIns="137160" wrap="square"/>
          <a:lstStyle/>
          <a:p>
            <a:pPr algn="l"/>
            <a:r>
              <a:rPr sz="1000" b="1">
                <a:solidFill>
                  <a:srgbClr val="34C6D2"/>
                </a:solidFill>
                <a:latin typeface="Segoe UI"/>
              </a:rPr>
              <a:t>02. </a:t>
            </a:r>
            <a:r>
              <a:rPr sz="1000" b="1">
                <a:solidFill>
                  <a:srgbClr val="0F172A"/>
                </a:solidFill>
                <a:latin typeface="Segoe UI"/>
              </a:rPr>
              <a:t>DOCUMENT REPOSITORY &amp; LIFECYCLE</a:t>
            </a:r>
          </a:p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PDF Ingestion, Deduplication &amp; Management</a:t>
            </a:r>
          </a:p>
          <a:p>
            <a:pPr algn="l">
              <a:spcBef>
                <a:spcPts val="300"/>
              </a:spcBef>
              <a:defRPr sz="819">
                <a:solidFill>
                  <a:srgbClr val="0F172A"/>
                </a:solidFill>
                <a:latin typeface="Segoe UI"/>
              </a:defRPr>
            </a:pPr>
            <a:r>
              <a:t>• Single/batch PDF upload with real-time file size &amp; type validation</a:t>
            </a:r>
          </a:p>
          <a:p>
            <a:pPr algn="l">
              <a:spcBef>
                <a:spcPts val="300"/>
              </a:spcBef>
              <a:defRPr sz="819">
                <a:solidFill>
                  <a:srgbClr val="0F172A"/>
                </a:solidFill>
                <a:latin typeface="Segoe UI"/>
              </a:defRPr>
            </a:pPr>
            <a:r>
              <a:t>• SHA-256 fingerprint deduplication prevents duplicate indexing</a:t>
            </a:r>
          </a:p>
          <a:p>
            <a:pPr algn="l">
              <a:spcBef>
                <a:spcPts val="300"/>
              </a:spcBef>
              <a:defRPr sz="819">
                <a:solidFill>
                  <a:srgbClr val="0F172A"/>
                </a:solidFill>
                <a:latin typeface="Segoe UI"/>
              </a:defRPr>
            </a:pPr>
            <a:r>
              <a:t>• Background processing lifecycle: PENDING → PROCESSING → READY</a:t>
            </a:r>
          </a:p>
          <a:p>
            <a:pPr algn="l">
              <a:spcBef>
                <a:spcPts val="300"/>
              </a:spcBef>
              <a:defRPr sz="819">
                <a:solidFill>
                  <a:srgbClr val="0F172A"/>
                </a:solidFill>
                <a:latin typeface="Segoe UI"/>
              </a:defRPr>
            </a:pPr>
            <a:r>
              <a:t>• Document metadata inspector (page count, upload timestamp, version)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9976" y="1801368"/>
            <a:ext cx="54864" cy="1783080"/>
          </a:xfrm>
          <a:prstGeom prst="rect">
            <a:avLst/>
          </a:prstGeom>
          <a:solidFill>
            <a:srgbClr val="34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28432" y="1664208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tIns="109728" rIns="137160" wrap="square"/>
          <a:lstStyle/>
          <a:p>
            <a:pPr algn="l"/>
            <a:r>
              <a:rPr sz="1000" b="1">
                <a:solidFill>
                  <a:srgbClr val="8B5CF6"/>
                </a:solidFill>
                <a:latin typeface="Segoe UI"/>
              </a:rPr>
              <a:t>03. </a:t>
            </a:r>
            <a:r>
              <a:rPr sz="1000" b="1">
                <a:solidFill>
                  <a:srgbClr val="0F172A"/>
                </a:solidFill>
                <a:latin typeface="Segoe UI"/>
              </a:rPr>
              <a:t>ARCHITECTURE EXPLORER</a:t>
            </a:r>
          </a:p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Extracted Components, Ports &amp; Review Actions</a:t>
            </a:r>
          </a:p>
          <a:p>
            <a:pPr algn="l">
              <a:spcBef>
                <a:spcPts val="300"/>
              </a:spcBef>
              <a:defRPr sz="819">
                <a:solidFill>
                  <a:srgbClr val="0F172A"/>
                </a:solidFill>
                <a:latin typeface="Segoe UI"/>
              </a:defRPr>
            </a:pPr>
            <a:r>
              <a:t>• Categorized catalog: Software Components, Runnables, Interfaces, Ports, Signals</a:t>
            </a:r>
          </a:p>
          <a:p>
            <a:pPr algn="l">
              <a:spcBef>
                <a:spcPts val="300"/>
              </a:spcBef>
              <a:defRPr sz="819">
                <a:solidFill>
                  <a:srgbClr val="0F172A"/>
                </a:solidFill>
                <a:latin typeface="Segoe UI"/>
              </a:defRPr>
            </a:pPr>
            <a:r>
              <a:t>• Confidence scoring per extracted entity (0.88 to 0.92)</a:t>
            </a:r>
          </a:p>
          <a:p>
            <a:pPr algn="l">
              <a:spcBef>
                <a:spcPts val="300"/>
              </a:spcBef>
              <a:defRPr sz="819">
                <a:solidFill>
                  <a:srgbClr val="0F172A"/>
                </a:solidFill>
                <a:latin typeface="Segoe UI"/>
              </a:defRPr>
            </a:pPr>
            <a:r>
              <a:t>• Source excerpt &amp; physical page number mapping for auditability</a:t>
            </a:r>
          </a:p>
          <a:p>
            <a:pPr algn="l">
              <a:spcBef>
                <a:spcPts val="300"/>
              </a:spcBef>
              <a:defRPr sz="819">
                <a:solidFill>
                  <a:srgbClr val="0F172A"/>
                </a:solidFill>
                <a:latin typeface="Segoe UI"/>
              </a:defRPr>
            </a:pPr>
            <a:r>
              <a:t>• Interactive engineer review actions (Approve, Reject, Flag for Review)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28432" y="1801368"/>
            <a:ext cx="54864" cy="1783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922776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tIns="109728" rIns="137160" wrap="square"/>
          <a:lstStyle/>
          <a:p>
            <a:pPr algn="l"/>
            <a:r>
              <a:rPr sz="1000" b="1">
                <a:solidFill>
                  <a:srgbClr val="2E7EDC"/>
                </a:solidFill>
                <a:latin typeface="Segoe UI"/>
              </a:rPr>
              <a:t>04. </a:t>
            </a:r>
            <a:r>
              <a:rPr sz="1000" b="1">
                <a:solidFill>
                  <a:srgbClr val="0F172A"/>
                </a:solidFill>
                <a:latin typeface="Segoe UI"/>
              </a:rPr>
              <a:t>AI ASSISTANT (RAG ENGINE)</a:t>
            </a:r>
          </a:p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Natural-Language Q&amp;A with Evidence Citations</a:t>
            </a:r>
          </a:p>
          <a:p>
            <a:pPr algn="l">
              <a:spcBef>
                <a:spcPts val="300"/>
              </a:spcBef>
              <a:defRPr sz="819">
                <a:solidFill>
                  <a:srgbClr val="0F172A"/>
                </a:solidFill>
                <a:latin typeface="Segoe UI"/>
              </a:defRPr>
            </a:pPr>
            <a:r>
              <a:t>• Conversational interface grounded strictly in indexed HLD documents</a:t>
            </a:r>
          </a:p>
          <a:p>
            <a:pPr algn="l">
              <a:spcBef>
                <a:spcPts val="300"/>
              </a:spcBef>
              <a:defRPr sz="819">
                <a:solidFill>
                  <a:srgbClr val="0F172A"/>
                </a:solidFill>
                <a:latin typeface="Segoe UI"/>
              </a:defRPr>
            </a:pPr>
            <a:r>
              <a:t>• Document-scoped querying allowing filtering by specific HLD version</a:t>
            </a:r>
          </a:p>
          <a:p>
            <a:pPr algn="l">
              <a:spcBef>
                <a:spcPts val="300"/>
              </a:spcBef>
              <a:defRPr sz="819">
                <a:solidFill>
                  <a:srgbClr val="0F172A"/>
                </a:solidFill>
                <a:latin typeface="Segoe UI"/>
              </a:defRPr>
            </a:pPr>
            <a:r>
              <a:t>• Clickable citation pills displaying exact source excerpts and pages</a:t>
            </a:r>
          </a:p>
          <a:p>
            <a:pPr algn="l">
              <a:spcBef>
                <a:spcPts val="300"/>
              </a:spcBef>
              <a:defRPr sz="819">
                <a:solidFill>
                  <a:srgbClr val="0F172A"/>
                </a:solidFill>
                <a:latin typeface="Segoe UI"/>
              </a:defRPr>
            </a:pPr>
            <a:r>
              <a:t>• Claim verification drawer displaying Grounding Score and 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059936"/>
            <a:ext cx="54864" cy="1783080"/>
          </a:xfrm>
          <a:prstGeom prst="rect">
            <a:avLst/>
          </a:prstGeom>
          <a:solidFill>
            <a:srgbClr val="2E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3922776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tIns="109728" rIns="137160" wrap="square"/>
          <a:lstStyle/>
          <a:p>
            <a:pPr algn="l"/>
            <a:r>
              <a:rPr sz="1000" b="1">
                <a:solidFill>
                  <a:srgbClr val="F59E0B"/>
                </a:solidFill>
                <a:latin typeface="Segoe UI"/>
              </a:rPr>
              <a:t>05. </a:t>
            </a:r>
            <a:r>
              <a:rPr sz="1000" b="1">
                <a:solidFill>
                  <a:srgbClr val="0F172A"/>
                </a:solidFill>
                <a:latin typeface="Segoe UI"/>
              </a:rPr>
              <a:t>COMPARISONS &amp; REVISION DIFF</a:t>
            </a:r>
          </a:p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Baseline vs Revision Architectural Deltas</a:t>
            </a:r>
          </a:p>
          <a:p>
            <a:pPr algn="l">
              <a:spcBef>
                <a:spcPts val="300"/>
              </a:spcBef>
              <a:defRPr sz="819">
                <a:solidFill>
                  <a:srgbClr val="0F172A"/>
                </a:solidFill>
                <a:latin typeface="Segoe UI"/>
              </a:defRPr>
            </a:pPr>
            <a:r>
              <a:t>• Automated structural comparison between document versions (e.g., v1.0 vs v2.0)</a:t>
            </a:r>
          </a:p>
          <a:p>
            <a:pPr algn="l">
              <a:spcBef>
                <a:spcPts val="300"/>
              </a:spcBef>
              <a:defRPr sz="819">
                <a:solidFill>
                  <a:srgbClr val="0F172A"/>
                </a:solidFill>
                <a:latin typeface="Segoe UI"/>
              </a:defRPr>
            </a:pPr>
            <a:r>
              <a:t>• Categorizes architectural deltas: Added, Removed, and Modified entities</a:t>
            </a:r>
          </a:p>
          <a:p>
            <a:pPr algn="l">
              <a:spcBef>
                <a:spcPts val="300"/>
              </a:spcBef>
              <a:defRPr sz="819">
                <a:solidFill>
                  <a:srgbClr val="0F172A"/>
                </a:solidFill>
                <a:latin typeface="Segoe UI"/>
              </a:defRPr>
            </a:pPr>
            <a:r>
              <a:t>• Signal data type change detection (e.g., uint16 modified to uint32)</a:t>
            </a:r>
          </a:p>
          <a:p>
            <a:pPr algn="l">
              <a:spcBef>
                <a:spcPts val="300"/>
              </a:spcBef>
              <a:defRPr sz="819">
                <a:solidFill>
                  <a:srgbClr val="0F172A"/>
                </a:solidFill>
                <a:latin typeface="Segoe UI"/>
              </a:defRPr>
            </a:pPr>
            <a:r>
              <a:t>• Entity rename detection tracking modified component designations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4059936"/>
            <a:ext cx="54864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3922776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tIns="109728" rIns="137160" wrap="square"/>
          <a:lstStyle/>
          <a:p>
            <a:pPr algn="l"/>
            <a:r>
              <a:rPr sz="1000" b="1">
                <a:solidFill>
                  <a:srgbClr val="10B981"/>
                </a:solidFill>
                <a:latin typeface="Segoe UI"/>
              </a:rPr>
              <a:t>06. </a:t>
            </a:r>
            <a:r>
              <a:rPr sz="1000" b="1">
                <a:solidFill>
                  <a:srgbClr val="0F172A"/>
                </a:solidFill>
                <a:latin typeface="Segoe UI"/>
              </a:rPr>
              <a:t>FINDINGS, VALIDATION &amp; REPORTS</a:t>
            </a:r>
          </a:p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Automated Rule Checks &amp; Multi-Format Exports</a:t>
            </a:r>
          </a:p>
          <a:p>
            <a:pPr algn="l">
              <a:spcBef>
                <a:spcPts val="300"/>
              </a:spcBef>
              <a:defRPr sz="819">
                <a:solidFill>
                  <a:srgbClr val="0F172A"/>
                </a:solidFill>
                <a:latin typeface="Segoe UI"/>
              </a:defRPr>
            </a:pPr>
            <a:r>
              <a:t>• Rule engine detects circular dependencies, insecure IPC, unbounded arrays</a:t>
            </a:r>
          </a:p>
          <a:p>
            <a:pPr algn="l">
              <a:spcBef>
                <a:spcPts val="300"/>
              </a:spcBef>
              <a:defRPr sz="819">
                <a:solidFill>
                  <a:srgbClr val="0F172A"/>
                </a:solidFill>
                <a:latin typeface="Segoe UI"/>
              </a:defRPr>
            </a:pPr>
            <a:r>
              <a:t>• Unresolved interface reference identification and signal type conflicts</a:t>
            </a:r>
          </a:p>
          <a:p>
            <a:pPr algn="l">
              <a:spcBef>
                <a:spcPts val="300"/>
              </a:spcBef>
              <a:defRPr sz="819">
                <a:solidFill>
                  <a:srgbClr val="0F172A"/>
                </a:solidFill>
                <a:latin typeface="Segoe UI"/>
              </a:defRPr>
            </a:pPr>
            <a:r>
              <a:t>• One-click ReportLab PDF generation, structured JSON, and sanitized CSV exports</a:t>
            </a:r>
          </a:p>
          <a:p>
            <a:pPr algn="l">
              <a:spcBef>
                <a:spcPts val="300"/>
              </a:spcBef>
              <a:defRPr sz="819">
                <a:solidFill>
                  <a:srgbClr val="0F172A"/>
                </a:solidFill>
                <a:latin typeface="Segoe UI"/>
              </a:defRPr>
            </a:pPr>
            <a:r>
              <a:t>• CSV formula injection defense (=, +, -, @ sanitized) preventing spreadsheet exploits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4059936"/>
            <a:ext cx="54864" cy="1783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0728655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900" i="1">
                <a:solidFill>
                  <a:srgbClr val="475569"/>
                </a:solidFill>
                <a:latin typeface="Segoe UI"/>
              </a:defRPr>
            </a:pPr>
            <a:r>
              <a:t>Verified Scope: All 6 modules are operational in the existing codebase with corresponding Streamlit pages and FastAPI endpoints. Advanced ARXML round-tripping and multi-agent reasoning are classified as future scope.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880">
                <a:solidFill>
                  <a:srgbClr val="8C9BAF"/>
                </a:solidFill>
                <a:latin typeface="Segoe UI"/>
              </a:defRPr>
            </a:pPr>
            <a:r>
              <a:t>AUTOSAR AI – High-Level Design Document Intelligence Platform  |  Hamdhan Ahmed B (Reg: 127003081)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E7EDC"/>
                </a:solidFill>
                <a:latin typeface="Segoe UI"/>
              </a:defRPr>
            </a:pPr>
            <a: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2E7EDC"/>
                </a:solidFill>
                <a:latin typeface="Segoe UI"/>
              </a:defRPr>
            </a:pPr>
            <a:r>
              <a:t>EMPIRICAL VALIDATION &amp; TEST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Testing, Verification &amp; 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>
                <a:solidFill>
                  <a:srgbClr val="475569"/>
                </a:solidFill>
                <a:latin typeface="Segoe UI"/>
              </a:defRPr>
            </a:pPr>
            <a:r>
              <a:t>Empirically verified test results across all functional modules, security controls, and RAG retrieval pipelines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tIns="109728" wrap="square"/>
          <a:lstStyle/>
          <a:p>
            <a:pPr algn="l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28 / 28</a:t>
            </a:r>
          </a:p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Automated Tests Passed</a:t>
            </a:r>
          </a:p>
          <a:p>
            <a:pPr algn="l">
              <a:defRPr sz="800">
                <a:solidFill>
                  <a:srgbClr val="475569"/>
                </a:solidFill>
                <a:latin typeface="Segoe UI"/>
              </a:defRPr>
            </a:pPr>
            <a:r>
              <a:t>100% Pass Rate across all 12 test suites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514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65576" y="1645920"/>
            <a:ext cx="25146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tIns="109728" wrap="square"/>
          <a:lstStyle/>
          <a:p>
            <a:pPr algn="l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0</a:t>
            </a:r>
          </a:p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Test Failures / Errors</a:t>
            </a:r>
          </a:p>
          <a:p>
            <a:pPr algn="l">
              <a:defRPr sz="800">
                <a:solidFill>
                  <a:srgbClr val="475569"/>
                </a:solidFill>
                <a:latin typeface="Segoe UI"/>
              </a:defRPr>
            </a:pPr>
            <a:r>
              <a:t>Zero regressions detected in verification audit</a:t>
            </a:r>
          </a:p>
        </p:txBody>
      </p:sp>
      <p:sp>
        <p:nvSpPr>
          <p:cNvPr id="9" name="Rectangle 8"/>
          <p:cNvSpPr/>
          <p:nvPr/>
        </p:nvSpPr>
        <p:spPr>
          <a:xfrm>
            <a:off x="3465576" y="1645920"/>
            <a:ext cx="2514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9632" y="1645920"/>
            <a:ext cx="25146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tIns="109728" wrap="square"/>
          <a:lstStyle/>
          <a:p>
            <a:pPr algn="l">
              <a:defRPr sz="2200" b="1">
                <a:solidFill>
                  <a:srgbClr val="2E7EDC"/>
                </a:solidFill>
                <a:latin typeface="Segoe UI"/>
              </a:defRPr>
            </a:pPr>
            <a:r>
              <a:t>35</a:t>
            </a:r>
          </a:p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Evaluation Queries</a:t>
            </a:r>
          </a:p>
          <a:p>
            <a:pPr algn="l">
              <a:defRPr sz="800">
                <a:solidFill>
                  <a:srgbClr val="475569"/>
                </a:solidFill>
                <a:latin typeface="Segoe UI"/>
              </a:defRPr>
            </a:pPr>
            <a:r>
              <a:t>Curated benchmark dataset for retrieval evaluation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645920"/>
            <a:ext cx="2514600" cy="54864"/>
          </a:xfrm>
          <a:prstGeom prst="rect">
            <a:avLst/>
          </a:prstGeom>
          <a:solidFill>
            <a:srgbClr val="2E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33688" y="1645920"/>
            <a:ext cx="25146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tIns="109728" wrap="square"/>
          <a:lstStyle/>
          <a:p>
            <a:pPr algn="l">
              <a:defRPr sz="2200" b="1">
                <a:solidFill>
                  <a:srgbClr val="34C6D2"/>
                </a:solidFill>
                <a:latin typeface="Segoe UI"/>
              </a:defRPr>
            </a:pPr>
            <a:r>
              <a:t>100%</a:t>
            </a:r>
          </a:p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Offline Capable</a:t>
            </a:r>
          </a:p>
          <a:p>
            <a:pPr algn="l">
              <a:defRPr sz="800">
                <a:solidFill>
                  <a:srgbClr val="475569"/>
                </a:solidFill>
                <a:latin typeface="Segoe UI"/>
              </a:defRPr>
            </a:pPr>
            <a:r>
              <a:t>Verified local execution with zero internet connectivity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33688" y="1645920"/>
            <a:ext cx="2514600" cy="54864"/>
          </a:xfrm>
          <a:prstGeom prst="rect">
            <a:avLst/>
          </a:prstGeom>
          <a:solidFill>
            <a:srgbClr val="34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tIns="109728" rIns="137160" wrap="square"/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Document Ingestion &amp; Chunking Pipeline (5 Tests Passed)</a:t>
            </a:r>
          </a:p>
          <a:p>
            <a:pPr algn="l">
              <a:spcBef>
                <a:spcPts val="3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test_chunking_and_entity_extraction: Verifies 1000-char chunking with 150-char overlap</a:t>
            </a:r>
          </a:p>
          <a:p>
            <a:pPr algn="l">
              <a:spcBef>
                <a:spcPts val="3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test_full_document_ingestion_and_cleanup: Ingests PDF, tests ChromaDB indexing &amp; deletion</a:t>
            </a:r>
          </a:p>
          <a:p>
            <a:pPr algn="l">
              <a:spcBef>
                <a:spcPts val="3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test_create_project, test_get_projects, test_upload_invalid_file: API input 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990088"/>
            <a:ext cx="54864" cy="1152144"/>
          </a:xfrm>
          <a:prstGeom prst="rect">
            <a:avLst/>
          </a:prstGeom>
          <a:solidFill>
            <a:srgbClr val="2E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99632" y="288036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tIns="109728" rIns="137160" wrap="square"/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Entity, Port/Signal &amp; Rule Validation (6 Tests Passed)</a:t>
            </a:r>
          </a:p>
          <a:p>
            <a:pPr algn="l">
              <a:spcBef>
                <a:spcPts val="3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test_ports_and_signals_extraction: Confirms PPort/RPort, direction &amp; typed signals (float32)</a:t>
            </a:r>
          </a:p>
          <a:p>
            <a:pPr algn="l">
              <a:spcBef>
                <a:spcPts val="3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test_mermaid_generation_and_dependency_traversal: Verifies graph dependency generation</a:t>
            </a:r>
          </a:p>
          <a:p>
            <a:pPr algn="l">
              <a:spcBef>
                <a:spcPts val="3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test_findings_and_entity_review: Validates circular dependency and insecure IPC rule triggers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2990088"/>
            <a:ext cx="54864" cy="11521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tIns="109728" rIns="137160" wrap="square"/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Local Ollama LLM, Grounding &amp; Traceability (7 Tests Passed)</a:t>
            </a:r>
          </a:p>
          <a:p>
            <a:pPr algn="l">
              <a:spcBef>
                <a:spcPts val="3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test_ollama_connection_diagnostic &amp; test_active_provider_info: Confirms Ollama health probe</a:t>
            </a:r>
          </a:p>
          <a:p>
            <a:pPr algn="l">
              <a:spcBef>
                <a:spcPts val="3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test_ask_question_insufficient_evidence: Verifies deterministic abstention guardrail</a:t>
            </a:r>
          </a:p>
          <a:p>
            <a:pPr algn="l">
              <a:spcBef>
                <a:spcPts val="3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test_claim_segmentation, test_evidence_verification, test_grounding_score: Verifies claim checks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498848"/>
            <a:ext cx="54864" cy="11521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99632" y="438912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tIns="109728" rIns="137160" wrap="square"/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Revision Comparison, Reports &amp; Security (10 Tests Passed)</a:t>
            </a:r>
          </a:p>
          <a:p>
            <a:pPr algn="l">
              <a:spcBef>
                <a:spcPts val="3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test_csv_formula_injection_sanitization: Sanitizes '=cmd', '+', '-', '@' against injection</a:t>
            </a:r>
          </a:p>
          <a:p>
            <a:pPr algn="l">
              <a:spcBef>
                <a:spcPts val="3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test_rename_detection_and_data_type_diff: Detects entity renames and signal type deltas</a:t>
            </a:r>
          </a:p>
          <a:p>
            <a:pPr algn="l">
              <a:spcBef>
                <a:spcPts val="300"/>
              </a:spcBef>
              <a:defRPr sz="830">
                <a:solidFill>
                  <a:srgbClr val="475569"/>
                </a:solidFill>
                <a:latin typeface="Segoe UI"/>
              </a:defRPr>
            </a:pPr>
            <a:r>
              <a:t>• test_report_generation_and_download, test_governance, test_audit: Validates export workflows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4498848"/>
            <a:ext cx="54864" cy="11521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5779008"/>
            <a:ext cx="10728655" cy="566928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BED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tIns="91440" wrap="square"/>
          <a:lstStyle/>
          <a:p>
            <a:pPr algn="l"/>
            <a:r>
              <a:rPr sz="950" b="1">
                <a:solidFill>
                  <a:srgbClr val="2E7EDC"/>
                </a:solidFill>
                <a:latin typeface="Segoe UI"/>
              </a:rPr>
              <a:t>VERIFIED END-TO-END WORKFLOW EXAMPLE:  </a:t>
            </a:r>
            <a:r>
              <a:rPr sz="880">
                <a:solidFill>
                  <a:srgbClr val="0F172A"/>
                </a:solidFill>
                <a:latin typeface="Segoe UI"/>
              </a:rPr>
              <a:t>AUTOSAR HLD PDF Upload (Page 4) → PyMuPDF Extraction → ChromaDB Embedding Indexing → Engineer Query: 'What interfaces does MotorControl_SWC provide?' → Top-k Retrieval → Local Ollama Inference → Verified Cited Answer with Page 4 excerpt and 92% Grounding Score.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880">
                <a:solidFill>
                  <a:srgbClr val="8C9BAF"/>
                </a:solidFill>
                <a:latin typeface="Segoe UI"/>
              </a:defRPr>
            </a:pPr>
            <a:r>
              <a:t>AUTOSAR AI – High-Level Design Document Intelligence Platform  |  Hamdhan Ahmed B (Reg: 127003081)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E7EDC"/>
                </a:solidFill>
                <a:latin typeface="Segoe UI"/>
              </a:defRPr>
            </a:pPr>
            <a: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34C6D2"/>
                </a:solidFill>
                <a:latin typeface="Segoe UI"/>
              </a:defRPr>
            </a:pPr>
            <a:r>
              <a:t>ROADMAP &amp; STRATEGIC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>
                <a:solidFill>
                  <a:srgbClr val="F1F5F9"/>
                </a:solidFill>
                <a:latin typeface="Segoe UI"/>
              </a:defRPr>
            </a:pPr>
            <a:r>
              <a:t>Four-Phase Evolution &amp; Strategic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From functional prototype to an enterprise-grade automotive architecture intelligence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64208"/>
            <a:ext cx="2514600" cy="3337560"/>
          </a:xfrm>
          <a:prstGeom prst="roundRect">
            <a:avLst/>
          </a:prstGeom>
          <a:solidFill>
            <a:srgbClr val="142640"/>
          </a:solidFill>
          <a:ln w="19050">
            <a:solidFill>
              <a:srgbClr val="2E5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tIns="137160" rIns="146304" wrap="square"/>
          <a:lstStyle/>
          <a:p>
            <a:pPr algn="l">
              <a:defRPr sz="900" b="1">
                <a:solidFill>
                  <a:srgbClr val="2E7EDC"/>
                </a:solidFill>
                <a:latin typeface="Segoe UI"/>
              </a:defRPr>
            </a:pPr>
            <a:r>
              <a:t>PHASE 1</a:t>
            </a:r>
          </a:p>
          <a:p>
            <a:pPr algn="l">
              <a:defRPr sz="1100" b="1">
                <a:solidFill>
                  <a:srgbClr val="F1F5F9"/>
                </a:solidFill>
                <a:latin typeface="Segoe UI"/>
              </a:defRPr>
            </a:pPr>
            <a:r>
              <a:t>Traceability &amp; Governance</a:t>
            </a:r>
          </a:p>
          <a:p>
            <a:pPr algn="l">
              <a:spcBef>
                <a:spcPts val="8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CURRENT BASELINE &amp; REFINEMENTS</a:t>
            </a:r>
            <a:br/>
            <a:br/>
            <a:r>
              <a:t>• Formal document version tagging &amp; governance metadata</a:t>
            </a:r>
            <a:br/>
            <a:r>
              <a:t>• Claim-level answer segmentation &amp; independent verification</a:t>
            </a:r>
            <a:br/>
            <a:r>
              <a:t>• Inline Markdown, JSON, and sanitized CSV exports</a:t>
            </a:r>
            <a:br/>
            <a:r>
              <a:t>• Document-scoped query filtering</a:t>
            </a:r>
            <a:br/>
            <a:r>
              <a:t>• Grounding Score &amp; Review Recommendation badge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64208"/>
            <a:ext cx="2514600" cy="73152"/>
          </a:xfrm>
          <a:prstGeom prst="rect">
            <a:avLst/>
          </a:prstGeom>
          <a:solidFill>
            <a:srgbClr val="2E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65576" y="1664208"/>
            <a:ext cx="2514600" cy="3337560"/>
          </a:xfrm>
          <a:prstGeom prst="roundRect">
            <a:avLst/>
          </a:prstGeom>
          <a:solidFill>
            <a:srgbClr val="142640"/>
          </a:solidFill>
          <a:ln w="19050">
            <a:solidFill>
              <a:srgbClr val="2E5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tIns="137160" rIns="146304" wrap="square"/>
          <a:lstStyle/>
          <a:p>
            <a:pPr algn="l">
              <a:defRPr sz="900" b="1">
                <a:solidFill>
                  <a:srgbClr val="34C6D2"/>
                </a:solidFill>
                <a:latin typeface="Segoe UI"/>
              </a:defRPr>
            </a:pPr>
            <a:r>
              <a:t>PHASE 2</a:t>
            </a:r>
          </a:p>
          <a:p>
            <a:pPr algn="l">
              <a:defRPr sz="1100" b="1">
                <a:solidFill>
                  <a:srgbClr val="F1F5F9"/>
                </a:solidFill>
                <a:latin typeface="Segoe UI"/>
              </a:defRPr>
            </a:pPr>
            <a:r>
              <a:t>Architecture Depth</a:t>
            </a:r>
          </a:p>
          <a:p>
            <a:pPr algn="l">
              <a:spcBef>
                <a:spcPts val="8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TOPOLOGY &amp; SCHEMA EXPANSION</a:t>
            </a:r>
            <a:br/>
            <a:br/>
            <a:r>
              <a:t>• Full AST-based Port, Signal &amp; Interface extraction</a:t>
            </a:r>
            <a:br/>
            <a:r>
              <a:t>• Interactive architecture topology graphs via Mermaid &amp; Cytoscape</a:t>
            </a:r>
            <a:br/>
            <a:r>
              <a:t>• Dependency traversal &amp; change-impact propagation</a:t>
            </a:r>
            <a:br/>
            <a:r>
              <a:t>• Bidirectional ARXML schema round-tripping &amp; synchronization</a:t>
            </a:r>
            <a:br/>
            <a:r>
              <a:t>• Bus frame packaging &amp; signal timing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65576" y="1664208"/>
            <a:ext cx="2514600" cy="73152"/>
          </a:xfrm>
          <a:prstGeom prst="rect">
            <a:avLst/>
          </a:prstGeom>
          <a:solidFill>
            <a:srgbClr val="34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9632" y="1664208"/>
            <a:ext cx="2514600" cy="3337560"/>
          </a:xfrm>
          <a:prstGeom prst="roundRect">
            <a:avLst/>
          </a:prstGeom>
          <a:solidFill>
            <a:srgbClr val="142640"/>
          </a:solidFill>
          <a:ln w="19050">
            <a:solidFill>
              <a:srgbClr val="2E5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tIns="137160" rIns="146304" wrap="square"/>
          <a:lstStyle/>
          <a:p>
            <a:pPr algn="l">
              <a:defRPr sz="900" b="1">
                <a:solidFill>
                  <a:srgbClr val="8B5CF6"/>
                </a:solidFill>
                <a:latin typeface="Segoe UI"/>
              </a:defRPr>
            </a:pPr>
            <a:r>
              <a:t>PHASE 3</a:t>
            </a:r>
          </a:p>
          <a:p>
            <a:pPr algn="l">
              <a:defRPr sz="1100" b="1">
                <a:solidFill>
                  <a:srgbClr val="F1F5F9"/>
                </a:solidFill>
                <a:latin typeface="Segoe UI"/>
              </a:defRPr>
            </a:pPr>
            <a:r>
              <a:t>Enterprise Governance</a:t>
            </a:r>
          </a:p>
          <a:p>
            <a:pPr algn="l">
              <a:spcBef>
                <a:spcPts val="8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COMPLIANCE &amp; TEAM COLLABORATION</a:t>
            </a:r>
            <a:br/>
            <a:br/>
            <a:r>
              <a:t>• Formal engineer sign-off workflow for AI-assisted analysis</a:t>
            </a:r>
            <a:br/>
            <a:r>
              <a:t>• Immutable audit trails &amp; persistent Q&amp;A review history</a:t>
            </a:r>
            <a:br/>
            <a:r>
              <a:t>• Per-component architectural compliance scorecards</a:t>
            </a:r>
            <a:br/>
            <a:r>
              <a:t>• Multi-user role-based access control (RBAC)</a:t>
            </a:r>
            <a:br/>
            <a:r>
              <a:t>• Integration with JIRA and enterprise PLM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664208"/>
            <a:ext cx="25146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33688" y="1664208"/>
            <a:ext cx="2514600" cy="3337560"/>
          </a:xfrm>
          <a:prstGeom prst="roundRect">
            <a:avLst/>
          </a:prstGeom>
          <a:solidFill>
            <a:srgbClr val="142640"/>
          </a:solidFill>
          <a:ln w="19050">
            <a:solidFill>
              <a:srgbClr val="2E5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tIns="137160" rIns="146304" wrap="square"/>
          <a:lstStyle/>
          <a:p>
            <a:pPr algn="l">
              <a:defRPr sz="900" b="1">
                <a:solidFill>
                  <a:srgbClr val="10B981"/>
                </a:solidFill>
                <a:latin typeface="Segoe UI"/>
              </a:defRPr>
            </a:pPr>
            <a:r>
              <a:t>PHASE 4</a:t>
            </a:r>
          </a:p>
          <a:p>
            <a:pPr algn="l">
              <a:defRPr sz="1100" b="1">
                <a:solidFill>
                  <a:srgbClr val="F1F5F9"/>
                </a:solidFill>
                <a:latin typeface="Segoe UI"/>
              </a:defRPr>
            </a:pPr>
            <a:r>
              <a:t>Evaluation &amp; Multi-Agent</a:t>
            </a:r>
          </a:p>
          <a:p>
            <a:pPr algn="l">
              <a:spcBef>
                <a:spcPts val="8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BENCHMARKING &amp; ADVANCED AGENTS</a:t>
            </a:r>
            <a:br/>
            <a:br/>
            <a:r>
              <a:t>• Automated benchmark execution against 35-query dataset</a:t>
            </a:r>
            <a:br/>
            <a:r>
              <a:t>• Retrieval metrics tracking (MRR, Hit Rate@1, latency)</a:t>
            </a:r>
            <a:br/>
            <a:r>
              <a:t>• Hybrid BM25 + Dense retrieval dynamic weight tuning</a:t>
            </a:r>
            <a:br/>
            <a:r>
              <a:t>• Multi-agent architectural critique &amp; consistency validation</a:t>
            </a:r>
            <a:br/>
            <a:r>
              <a:t>• ISO 26262 functional safety traceability mapping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33688" y="1664208"/>
            <a:ext cx="2514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5138928"/>
            <a:ext cx="10728655" cy="777240"/>
          </a:xfrm>
          <a:prstGeom prst="roundRect">
            <a:avLst/>
          </a:prstGeom>
          <a:solidFill>
            <a:srgbClr val="101E34"/>
          </a:solidFill>
          <a:ln w="19050">
            <a:solidFill>
              <a:srgbClr val="2E7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tIns="109728" rIns="228600" wrap="square"/>
          <a:lstStyle/>
          <a:p>
            <a:pPr algn="l"/>
            <a:r>
              <a:rPr sz="1000" b="1">
                <a:solidFill>
                  <a:srgbClr val="34C6D2"/>
                </a:solidFill>
                <a:latin typeface="Segoe UI"/>
              </a:rPr>
              <a:t>STRATEGIC CONCLUSION:  </a:t>
            </a:r>
            <a:r>
              <a:rPr sz="900">
                <a:solidFill>
                  <a:srgbClr val="F1F5F9"/>
                </a:solidFill>
                <a:latin typeface="Segoe UI"/>
              </a:rPr>
              <a:t>AUTOSAR AI successfully bridges the gap between massive, static High-Level Design PDF specifications and dynamic engineering workflows. By uniting local RAG retrieval, rule-based architecture validation, automated revision diffing, and strict citation traceability, the platform provides automotive architects with verifiable, evidence-grounded insights while preserving complete offline data sovereignty.</a:t>
            </a:r>
          </a:p>
        </p:txBody>
      </p:sp>
      <p:sp>
        <p:nvSpPr>
          <p:cNvPr id="15" name="Rounded Rectangle 14">
            <a:hlinkClick r:id="rId2"/>
          </p:cNvPr>
          <p:cNvSpPr/>
          <p:nvPr/>
        </p:nvSpPr>
        <p:spPr>
          <a:xfrm>
            <a:off x="2011680" y="6016752"/>
            <a:ext cx="8168335" cy="384048"/>
          </a:xfrm>
          <a:prstGeom prst="roundRect">
            <a:avLst/>
          </a:prstGeom>
          <a:solidFill>
            <a:srgbClr val="142640"/>
          </a:solidFill>
          <a:ln w="15240">
            <a:solidFill>
              <a:srgbClr val="34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94A3B8"/>
                </a:solidFill>
                <a:latin typeface="Segoe UI"/>
              </a:rPr>
              <a:t>Hamdhan Ahmed B   |   Registration No: 127003081   |   GitHub: </a:t>
            </a:r>
            <a:r>
              <a:rPr sz="1050" b="1">
                <a:solidFill>
                  <a:srgbClr val="B4F0F5"/>
                </a:solidFill>
                <a:latin typeface="Segoe UI"/>
              </a:rPr>
              <a:t>https://github.com/hamdhan05/AUTOSAR-AI-Implementation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880">
                <a:solidFill>
                  <a:srgbClr val="5A6E8C"/>
                </a:solidFill>
                <a:latin typeface="Segoe UI"/>
              </a:defRPr>
            </a:pPr>
            <a:r>
              <a:t>AUTOSAR AI – High-Level Design Document Intelligence Platform  |  Hamdhan Ahmed B (Reg: 127003081)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34C6D2"/>
                </a:solidFill>
                <a:latin typeface="Segoe UI"/>
              </a:defRPr>
            </a:pPr>
            <a: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